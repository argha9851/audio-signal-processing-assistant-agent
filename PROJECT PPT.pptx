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3"/>
  </p:notesMasterIdLst>
  <p:sldIdLst>
    <p:sldId id="283" r:id="rId2"/>
    <p:sldId id="282" r:id="rId3"/>
    <p:sldId id="284" r:id="rId4"/>
    <p:sldId id="285" r:id="rId5"/>
    <p:sldId id="281" r:id="rId6"/>
    <p:sldId id="279" r:id="rId7"/>
    <p:sldId id="262" r:id="rId8"/>
    <p:sldId id="264" r:id="rId9"/>
    <p:sldId id="286" r:id="rId10"/>
    <p:sldId id="280" r:id="rId11"/>
    <p:sldId id="276" r:id="rId1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varScale="1">
        <p:scale>
          <a:sx n="73" d="100"/>
          <a:sy n="73" d="100"/>
        </p:scale>
        <p:origin x="380"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4075923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solidFill>
                  <a:srgbClr val="C00000"/>
                </a:solidFill>
              </a:rPr>
              <a:t>PROJECT TITLE: </a:t>
            </a:r>
            <a:r>
              <a:rPr lang="en-US" b="1" dirty="0">
                <a:solidFill>
                  <a:srgbClr val="C00000"/>
                </a:solidFill>
              </a:rPr>
              <a:t>Audio Signal Processing Assistant Agent</a:t>
            </a:r>
            <a:endParaRPr lang="en-US" b="1" i="1" dirty="0">
              <a:solidFill>
                <a:srgbClr val="C00000"/>
              </a:solidFill>
            </a:endParaRPr>
          </a:p>
          <a:p>
            <a:pPr algn="ctr"/>
            <a:r>
              <a:rPr lang="en-US" b="1" i="1" dirty="0">
                <a:solidFill>
                  <a:srgbClr val="C00000"/>
                </a:solidFill>
              </a:rPr>
              <a:t>“Exploring the Power of Agentic AI with IBM Granite and </a:t>
            </a:r>
            <a:r>
              <a:rPr lang="en-US" b="1" i="1" dirty="0" err="1">
                <a:solidFill>
                  <a:srgbClr val="C00000"/>
                </a:solidFill>
              </a:rPr>
              <a:t>LangFlow</a:t>
            </a:r>
            <a:r>
              <a:rPr lang="en-US" b="1" i="1" dirty="0">
                <a:solidFill>
                  <a:srgbClr val="C00000"/>
                </a:solidFill>
              </a:rPr>
              <a:t>”</a:t>
            </a:r>
            <a:endParaRPr lang="en-IN" dirty="0">
              <a:solidFill>
                <a:srgbClr val="C00000"/>
              </a:solidFill>
            </a:endParaRPr>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6555641"/>
          </a:xfrm>
          <a:prstGeom prst="rect">
            <a:avLst/>
          </a:prstGeom>
          <a:noFill/>
        </p:spPr>
        <p:txBody>
          <a:bodyPr wrap="square" rtlCol="0">
            <a:spAutoFit/>
          </a:bodyPr>
          <a:lstStyle/>
          <a:p>
            <a:pPr fontAlgn="base"/>
            <a:r>
              <a:rPr lang="en-US" b="1" dirty="0"/>
              <a:t>Problem Statement: Audio Signal Processing Assistant Agent</a:t>
            </a:r>
          </a:p>
          <a:p>
            <a:pPr fontAlgn="base"/>
            <a:endParaRPr lang="en-US" b="1" dirty="0"/>
          </a:p>
          <a:p>
            <a:pPr fontAlgn="base"/>
            <a:r>
              <a:rPr lang="en-US" b="1" u="sng" dirty="0"/>
              <a:t>The Challenge</a:t>
            </a:r>
            <a:r>
              <a:rPr lang="en-US" u="sng" dirty="0"/>
              <a:t> </a:t>
            </a:r>
          </a:p>
          <a:p>
            <a:pPr fontAlgn="base"/>
            <a:r>
              <a:rPr lang="en-US" dirty="0"/>
              <a:t>Audio signal processing is a fundamental area in electronics, communication systems, and digital signal processing. Students, hobbyists, and engineers often face difficulties in understanding concepts such as noise reduction, filtering, signal distortion, sampling, quantization, frequency analysis, and audio equipment troubleshooting.</a:t>
            </a:r>
          </a:p>
          <a:p>
            <a:pPr fontAlgn="base"/>
            <a:r>
              <a:rPr lang="en-US" dirty="0"/>
              <a:t>                             Without an intelligent assistant, users spend significant time searching for solutions and understanding complex signal processing concepts.</a:t>
            </a:r>
          </a:p>
          <a:p>
            <a:pPr fontAlgn="base"/>
            <a:endParaRPr lang="en-US" dirty="0"/>
          </a:p>
          <a:p>
            <a:pPr fontAlgn="base"/>
            <a:r>
              <a:rPr lang="en-US" b="1" u="sng" dirty="0"/>
              <a:t>The Objective</a:t>
            </a:r>
            <a:r>
              <a:rPr lang="en-US" u="sng" dirty="0"/>
              <a:t> </a:t>
            </a:r>
          </a:p>
          <a:p>
            <a:pPr fontAlgn="base"/>
            <a:r>
              <a:rPr lang="en-US" dirty="0"/>
              <a:t>Build an </a:t>
            </a:r>
            <a:r>
              <a:rPr lang="en-US" b="1" dirty="0"/>
              <a:t>AI-Powered Audio Signal Processing Assistant Agent</a:t>
            </a:r>
            <a:r>
              <a:rPr lang="en-US" dirty="0"/>
              <a:t> using </a:t>
            </a:r>
            <a:r>
              <a:rPr lang="en-US" b="1" dirty="0" err="1"/>
              <a:t>Langflow</a:t>
            </a:r>
            <a:r>
              <a:rPr lang="en-US" b="1" dirty="0"/>
              <a:t>, IBM Watsonx.ai, and IBM Granite Models</a:t>
            </a:r>
            <a:r>
              <a:rPr lang="en-US" dirty="0"/>
              <a:t> that provides intelligent guidance and troubleshooting support for audio signal processing applications.</a:t>
            </a:r>
          </a:p>
          <a:p>
            <a:pPr fontAlgn="base"/>
            <a:r>
              <a:rPr lang="en-US" dirty="0"/>
              <a:t> The solution should: </a:t>
            </a:r>
          </a:p>
          <a:p>
            <a:pPr marL="285750" indent="-285750" fontAlgn="base">
              <a:buFont typeface="Arial" panose="020B0604020202020204" pitchFamily="34" charset="0"/>
              <a:buChar char="•"/>
            </a:pPr>
            <a:endParaRPr lang="en-US" b="1" dirty="0"/>
          </a:p>
          <a:p>
            <a:pPr marL="342900" indent="-342900">
              <a:buAutoNum type="arabicPeriod"/>
            </a:pPr>
            <a:r>
              <a:rPr lang="en-US" b="1" dirty="0"/>
              <a:t>Audio Knowledge Assistance - </a:t>
            </a:r>
            <a:r>
              <a:rPr lang="en-US" dirty="0"/>
              <a:t> Provide explanations of DSP concepts, including filtering, sampling, quantization, FFT, frequency analysis, and signal reconstruction.</a:t>
            </a:r>
          </a:p>
          <a:p>
            <a:pPr marL="342900" indent="-342900">
              <a:buFont typeface="Arial"/>
              <a:buAutoNum type="arabicPeriod"/>
            </a:pPr>
            <a:r>
              <a:rPr lang="en-US" b="1" dirty="0"/>
              <a:t>Audio Troubleshooting - </a:t>
            </a:r>
            <a:r>
              <a:rPr lang="en-US" dirty="0"/>
              <a:t>Help users identify and resolve common audio problems such as humming noise, clipping, distortion, echo, feedback, and signal interference.</a:t>
            </a:r>
          </a:p>
          <a:p>
            <a:pPr marL="342900" indent="-342900">
              <a:buFont typeface="Arial"/>
              <a:buAutoNum type="arabicPeriod"/>
            </a:pPr>
            <a:r>
              <a:rPr lang="en-US" b="1" dirty="0"/>
              <a:t>Intelligent Question Answering </a:t>
            </a:r>
            <a:r>
              <a:rPr lang="en-US" dirty="0"/>
              <a:t>- Answer technical questions related to audio systems, amplifiers, microphones, speakers, and signal processing techniques.</a:t>
            </a:r>
          </a:p>
          <a:p>
            <a:pPr marL="342900" indent="-342900">
              <a:buFont typeface="Arial"/>
              <a:buAutoNum type="arabicPeriod"/>
            </a:pPr>
            <a:r>
              <a:rPr lang="en-US" b="1" dirty="0"/>
              <a:t>AI-Powered Analysis </a:t>
            </a:r>
            <a:r>
              <a:rPr lang="en-US" dirty="0"/>
              <a:t>- Generate context-aware recommendations and solutions based on user queries using IBM Granite foundation models.</a:t>
            </a:r>
            <a:endParaRPr lang="en-US" b="1" dirty="0"/>
          </a:p>
          <a:p>
            <a:pPr marL="342900" indent="-342900">
              <a:buAutoNum type="arabicPeriod"/>
            </a:pPr>
            <a:r>
              <a:rPr lang="en-US" b="1" dirty="0"/>
              <a:t>Educational Support </a:t>
            </a:r>
            <a:r>
              <a:rPr lang="en-US" dirty="0"/>
              <a:t>- Assist students in learning audio signal processing through simplified explanations and practical examples.</a:t>
            </a:r>
          </a:p>
          <a:p>
            <a:r>
              <a:rPr lang="en-US" b="1" dirty="0"/>
              <a:t>   </a:t>
            </a:r>
            <a:endParaRPr lang="en-US" dirty="0"/>
          </a:p>
          <a:p>
            <a:pPr marL="342900" indent="-342900">
              <a:buAutoNum type="arabicPeriod"/>
            </a:pPr>
            <a:endParaRPr lang="en-US" dirty="0"/>
          </a:p>
          <a:p>
            <a:pPr marL="342900" indent="-342900">
              <a:buAutoNum type="arabicPeriod"/>
            </a:pPr>
            <a:endParaRPr lang="en-US" dirty="0"/>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F0A604E4-7307-451C-93BE-F1F7E1BF3B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200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F7F3A0AA-35E5-4085-942B-7378390306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82344"/>
            <a:ext cx="12191998" cy="1590742"/>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02F5C38-C747-4173-ABBF-656E39E821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5282344"/>
            <a:ext cx="8115300" cy="1590742"/>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E37EECFC-A684-4391-AE85-4CDAF5565F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5282344"/>
            <a:ext cx="12191998" cy="1590742"/>
          </a:xfrm>
          <a:prstGeom prst="rect">
            <a:avLst/>
          </a:prstGeom>
          <a:gradFill>
            <a:gsLst>
              <a:gs pos="0">
                <a:srgbClr val="000000">
                  <a:alpha val="71765"/>
                </a:srgbClr>
              </a:gs>
              <a:gs pos="100000">
                <a:schemeClr val="accent1">
                  <a:alpha val="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BD926A1-0833-2949-651F-2AAB4D91A8C9}"/>
              </a:ext>
            </a:extLst>
          </p:cNvPr>
          <p:cNvSpPr txBox="1"/>
          <p:nvPr/>
        </p:nvSpPr>
        <p:spPr>
          <a:xfrm>
            <a:off x="699714" y="5490971"/>
            <a:ext cx="6962072" cy="1159200"/>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000" b="1" kern="1200">
                <a:solidFill>
                  <a:srgbClr val="FFFFFF"/>
                </a:solidFill>
                <a:latin typeface="+mj-lt"/>
                <a:ea typeface="+mj-ea"/>
                <a:cs typeface="+mj-cs"/>
              </a:rPr>
              <a:t>Technology Used </a:t>
            </a:r>
          </a:p>
        </p:txBody>
      </p:sp>
      <p:sp>
        <p:nvSpPr>
          <p:cNvPr id="2" name="TextBox 1">
            <a:extLst>
              <a:ext uri="{FF2B5EF4-FFF2-40B4-BE49-F238E27FC236}">
                <a16:creationId xmlns:a16="http://schemas.microsoft.com/office/drawing/2014/main" id="{07CFCB91-EF22-EB8C-5B0D-4D46021F0245}"/>
              </a:ext>
            </a:extLst>
          </p:cNvPr>
          <p:cNvSpPr txBox="1"/>
          <p:nvPr/>
        </p:nvSpPr>
        <p:spPr>
          <a:xfrm>
            <a:off x="667512" y="1165753"/>
            <a:ext cx="10607040" cy="1769715"/>
          </a:xfrm>
          <a:prstGeom prst="rect">
            <a:avLst/>
          </a:prstGeom>
          <a:noFill/>
        </p:spPr>
        <p:txBody>
          <a:bodyPr wrap="square" rtlCol="0">
            <a:spAutoFit/>
          </a:bodyPr>
          <a:lstStyle/>
          <a:p>
            <a:pPr fontAlgn="base">
              <a:spcAft>
                <a:spcPts val="600"/>
              </a:spcAft>
            </a:pPr>
            <a:endParaRPr lang="en-US" b="1"/>
          </a:p>
          <a:p>
            <a:pPr fontAlgn="base">
              <a:spcAft>
                <a:spcPts val="600"/>
              </a:spcAft>
            </a:pPr>
            <a:endParaRPr lang="en-IN"/>
          </a:p>
          <a:p>
            <a:pPr marL="285750" indent="-285750" fontAlgn="base">
              <a:spcAft>
                <a:spcPts val="600"/>
              </a:spcAft>
              <a:buFont typeface="Arial" panose="020B0604020202020204" pitchFamily="34" charset="0"/>
              <a:buChar char="•"/>
            </a:pPr>
            <a:endParaRPr lang="en-IN"/>
          </a:p>
          <a:p>
            <a:pPr fontAlgn="base">
              <a:spcAft>
                <a:spcPts val="600"/>
              </a:spcAft>
            </a:pPr>
            <a:endParaRPr lang="en-IN"/>
          </a:p>
          <a:p>
            <a:pPr fontAlgn="base">
              <a:spcAft>
                <a:spcPts val="600"/>
              </a:spcAft>
            </a:pPr>
            <a:endParaRPr lang="en-US"/>
          </a:p>
          <a:p>
            <a:pPr>
              <a:spcAft>
                <a:spcPts val="600"/>
              </a:spcAft>
            </a:pPr>
            <a:endParaRPr lang="en-IN"/>
          </a:p>
        </p:txBody>
      </p:sp>
      <p:graphicFrame>
        <p:nvGraphicFramePr>
          <p:cNvPr id="5" name="Table 4">
            <a:extLst>
              <a:ext uri="{FF2B5EF4-FFF2-40B4-BE49-F238E27FC236}">
                <a16:creationId xmlns:a16="http://schemas.microsoft.com/office/drawing/2014/main" id="{6A4BD60A-443B-B8E3-D76F-838B630744F9}"/>
              </a:ext>
            </a:extLst>
          </p:cNvPr>
          <p:cNvGraphicFramePr>
            <a:graphicFrameLocks noGrp="1"/>
          </p:cNvGraphicFramePr>
          <p:nvPr>
            <p:extLst>
              <p:ext uri="{D42A27DB-BD31-4B8C-83A1-F6EECF244321}">
                <p14:modId xmlns:p14="http://schemas.microsoft.com/office/powerpoint/2010/main" val="1703790454"/>
              </p:ext>
            </p:extLst>
          </p:nvPr>
        </p:nvGraphicFramePr>
        <p:xfrm>
          <a:off x="478535" y="731520"/>
          <a:ext cx="11327550" cy="3845467"/>
        </p:xfrm>
        <a:graphic>
          <a:graphicData uri="http://schemas.openxmlformats.org/drawingml/2006/table">
            <a:tbl>
              <a:tblPr/>
              <a:tblGrid>
                <a:gridCol w="4134097">
                  <a:extLst>
                    <a:ext uri="{9D8B030D-6E8A-4147-A177-3AD203B41FA5}">
                      <a16:colId xmlns:a16="http://schemas.microsoft.com/office/drawing/2014/main" val="2528174089"/>
                    </a:ext>
                  </a:extLst>
                </a:gridCol>
                <a:gridCol w="7193453">
                  <a:extLst>
                    <a:ext uri="{9D8B030D-6E8A-4147-A177-3AD203B41FA5}">
                      <a16:colId xmlns:a16="http://schemas.microsoft.com/office/drawing/2014/main" val="3920619853"/>
                    </a:ext>
                  </a:extLst>
                </a:gridCol>
              </a:tblGrid>
              <a:tr h="542731">
                <a:tc>
                  <a:txBody>
                    <a:bodyPr/>
                    <a:lstStyle/>
                    <a:p>
                      <a:pPr>
                        <a:buNone/>
                      </a:pPr>
                      <a:r>
                        <a:rPr lang="en-US" sz="2100" b="1" u="sng" dirty="0"/>
                        <a:t>Technology</a:t>
                      </a:r>
                    </a:p>
                  </a:txBody>
                  <a:tcPr marL="125104" marR="125104" marT="62552" marB="62552" anchor="ctr">
                    <a:lnL>
                      <a:noFill/>
                    </a:lnL>
                    <a:lnR>
                      <a:noFill/>
                    </a:lnR>
                    <a:lnT>
                      <a:noFill/>
                    </a:lnT>
                    <a:lnB>
                      <a:noFill/>
                    </a:lnB>
                    <a:noFill/>
                  </a:tcPr>
                </a:tc>
                <a:tc>
                  <a:txBody>
                    <a:bodyPr/>
                    <a:lstStyle/>
                    <a:p>
                      <a:pPr>
                        <a:buNone/>
                      </a:pPr>
                      <a:r>
                        <a:rPr lang="en-US" sz="2100" b="1" u="sng" dirty="0"/>
                        <a:t>Purpose</a:t>
                      </a:r>
                    </a:p>
                  </a:txBody>
                  <a:tcPr marL="125104" marR="125104" marT="62552" marB="62552" anchor="ctr">
                    <a:lnL>
                      <a:noFill/>
                    </a:lnL>
                    <a:lnR>
                      <a:noFill/>
                    </a:lnR>
                    <a:lnT>
                      <a:noFill/>
                    </a:lnT>
                    <a:lnB>
                      <a:noFill/>
                    </a:lnB>
                    <a:noFill/>
                  </a:tcPr>
                </a:tc>
                <a:extLst>
                  <a:ext uri="{0D108BD9-81ED-4DB2-BD59-A6C34878D82A}">
                    <a16:rowId xmlns:a16="http://schemas.microsoft.com/office/drawing/2014/main" val="1973304545"/>
                  </a:ext>
                </a:extLst>
              </a:tr>
              <a:tr h="550456">
                <a:tc>
                  <a:txBody>
                    <a:bodyPr/>
                    <a:lstStyle/>
                    <a:p>
                      <a:pPr>
                        <a:buNone/>
                      </a:pPr>
                      <a:r>
                        <a:rPr lang="en-US" sz="1900" dirty="0" err="1"/>
                        <a:t>Langflow</a:t>
                      </a:r>
                      <a:endParaRPr lang="en-US" sz="1900" dirty="0"/>
                    </a:p>
                  </a:txBody>
                  <a:tcPr marL="125104" marR="125104" marT="62552" marB="62552" anchor="ctr">
                    <a:lnL>
                      <a:noFill/>
                    </a:lnL>
                    <a:lnR>
                      <a:noFill/>
                    </a:lnR>
                    <a:lnT>
                      <a:noFill/>
                    </a:lnT>
                    <a:lnB>
                      <a:noFill/>
                    </a:lnB>
                    <a:noFill/>
                  </a:tcPr>
                </a:tc>
                <a:tc>
                  <a:txBody>
                    <a:bodyPr/>
                    <a:lstStyle/>
                    <a:p>
                      <a:pPr>
                        <a:buNone/>
                      </a:pPr>
                      <a:r>
                        <a:rPr lang="en-US" sz="1900"/>
                        <a:t>Workflow Design &amp; Orchestration</a:t>
                      </a:r>
                    </a:p>
                  </a:txBody>
                  <a:tcPr marL="125104" marR="125104" marT="62552" marB="62552" anchor="ctr">
                    <a:lnL>
                      <a:noFill/>
                    </a:lnL>
                    <a:lnR>
                      <a:noFill/>
                    </a:lnR>
                    <a:lnT>
                      <a:noFill/>
                    </a:lnT>
                    <a:lnB>
                      <a:noFill/>
                    </a:lnB>
                    <a:noFill/>
                  </a:tcPr>
                </a:tc>
                <a:extLst>
                  <a:ext uri="{0D108BD9-81ED-4DB2-BD59-A6C34878D82A}">
                    <a16:rowId xmlns:a16="http://schemas.microsoft.com/office/drawing/2014/main" val="3795667573"/>
                  </a:ext>
                </a:extLst>
              </a:tr>
              <a:tr h="550456">
                <a:tc>
                  <a:txBody>
                    <a:bodyPr/>
                    <a:lstStyle/>
                    <a:p>
                      <a:pPr>
                        <a:buNone/>
                      </a:pPr>
                      <a:r>
                        <a:rPr lang="en-US" sz="1900"/>
                        <a:t>IBM watsonx.ai</a:t>
                      </a:r>
                    </a:p>
                  </a:txBody>
                  <a:tcPr marL="125104" marR="125104" marT="62552" marB="62552" anchor="ctr">
                    <a:lnL>
                      <a:noFill/>
                    </a:lnL>
                    <a:lnR>
                      <a:noFill/>
                    </a:lnR>
                    <a:lnT>
                      <a:noFill/>
                    </a:lnT>
                    <a:lnB>
                      <a:noFill/>
                    </a:lnB>
                    <a:noFill/>
                  </a:tcPr>
                </a:tc>
                <a:tc>
                  <a:txBody>
                    <a:bodyPr/>
                    <a:lstStyle/>
                    <a:p>
                      <a:pPr>
                        <a:buNone/>
                      </a:pPr>
                      <a:r>
                        <a:rPr lang="en-US" sz="1900"/>
                        <a:t>AI Platform</a:t>
                      </a:r>
                    </a:p>
                  </a:txBody>
                  <a:tcPr marL="125104" marR="125104" marT="62552" marB="62552" anchor="ctr">
                    <a:lnL>
                      <a:noFill/>
                    </a:lnL>
                    <a:lnR>
                      <a:noFill/>
                    </a:lnR>
                    <a:lnT>
                      <a:noFill/>
                    </a:lnT>
                    <a:lnB>
                      <a:noFill/>
                    </a:lnB>
                    <a:noFill/>
                  </a:tcPr>
                </a:tc>
                <a:extLst>
                  <a:ext uri="{0D108BD9-81ED-4DB2-BD59-A6C34878D82A}">
                    <a16:rowId xmlns:a16="http://schemas.microsoft.com/office/drawing/2014/main" val="2352360540"/>
                  </a:ext>
                </a:extLst>
              </a:tr>
              <a:tr h="550456">
                <a:tc>
                  <a:txBody>
                    <a:bodyPr/>
                    <a:lstStyle/>
                    <a:p>
                      <a:pPr>
                        <a:buNone/>
                      </a:pPr>
                      <a:r>
                        <a:rPr lang="en-US" sz="1900"/>
                        <a:t>IBM Granite 8B</a:t>
                      </a:r>
                    </a:p>
                  </a:txBody>
                  <a:tcPr marL="125104" marR="125104" marT="62552" marB="62552" anchor="ctr">
                    <a:lnL>
                      <a:noFill/>
                    </a:lnL>
                    <a:lnR>
                      <a:noFill/>
                    </a:lnR>
                    <a:lnT>
                      <a:noFill/>
                    </a:lnT>
                    <a:lnB>
                      <a:noFill/>
                    </a:lnB>
                    <a:noFill/>
                  </a:tcPr>
                </a:tc>
                <a:tc>
                  <a:txBody>
                    <a:bodyPr/>
                    <a:lstStyle/>
                    <a:p>
                      <a:pPr>
                        <a:buNone/>
                      </a:pPr>
                      <a:r>
                        <a:rPr lang="en-US" sz="1900"/>
                        <a:t>Large Language Model (LLM)</a:t>
                      </a:r>
                    </a:p>
                  </a:txBody>
                  <a:tcPr marL="125104" marR="125104" marT="62552" marB="62552" anchor="ctr">
                    <a:lnL>
                      <a:noFill/>
                    </a:lnL>
                    <a:lnR>
                      <a:noFill/>
                    </a:lnR>
                    <a:lnT>
                      <a:noFill/>
                    </a:lnT>
                    <a:lnB>
                      <a:noFill/>
                    </a:lnB>
                    <a:noFill/>
                  </a:tcPr>
                </a:tc>
                <a:extLst>
                  <a:ext uri="{0D108BD9-81ED-4DB2-BD59-A6C34878D82A}">
                    <a16:rowId xmlns:a16="http://schemas.microsoft.com/office/drawing/2014/main" val="2328184400"/>
                  </a:ext>
                </a:extLst>
              </a:tr>
              <a:tr h="550456">
                <a:tc>
                  <a:txBody>
                    <a:bodyPr/>
                    <a:lstStyle/>
                    <a:p>
                      <a:pPr>
                        <a:buNone/>
                      </a:pPr>
                      <a:r>
                        <a:rPr lang="en-US" sz="1900"/>
                        <a:t>Prompt Engineering</a:t>
                      </a:r>
                    </a:p>
                  </a:txBody>
                  <a:tcPr marL="125104" marR="125104" marT="62552" marB="62552" anchor="ctr">
                    <a:lnL>
                      <a:noFill/>
                    </a:lnL>
                    <a:lnR>
                      <a:noFill/>
                    </a:lnR>
                    <a:lnT>
                      <a:noFill/>
                    </a:lnT>
                    <a:lnB>
                      <a:noFill/>
                    </a:lnB>
                    <a:noFill/>
                  </a:tcPr>
                </a:tc>
                <a:tc>
                  <a:txBody>
                    <a:bodyPr/>
                    <a:lstStyle/>
                    <a:p>
                      <a:pPr>
                        <a:buNone/>
                      </a:pPr>
                      <a:r>
                        <a:rPr lang="en-US" sz="1900"/>
                        <a:t>AI Behavior Configuration</a:t>
                      </a:r>
                    </a:p>
                  </a:txBody>
                  <a:tcPr marL="125104" marR="125104" marT="62552" marB="62552" anchor="ctr">
                    <a:lnL>
                      <a:noFill/>
                    </a:lnL>
                    <a:lnR>
                      <a:noFill/>
                    </a:lnR>
                    <a:lnT>
                      <a:noFill/>
                    </a:lnT>
                    <a:lnB>
                      <a:noFill/>
                    </a:lnB>
                    <a:noFill/>
                  </a:tcPr>
                </a:tc>
                <a:extLst>
                  <a:ext uri="{0D108BD9-81ED-4DB2-BD59-A6C34878D82A}">
                    <a16:rowId xmlns:a16="http://schemas.microsoft.com/office/drawing/2014/main" val="3975655239"/>
                  </a:ext>
                </a:extLst>
              </a:tr>
              <a:tr h="550456">
                <a:tc>
                  <a:txBody>
                    <a:bodyPr/>
                    <a:lstStyle/>
                    <a:p>
                      <a:pPr>
                        <a:buNone/>
                      </a:pPr>
                      <a:r>
                        <a:rPr lang="en-US" sz="1900"/>
                        <a:t>Agentic AI</a:t>
                      </a:r>
                    </a:p>
                  </a:txBody>
                  <a:tcPr marL="125104" marR="125104" marT="62552" marB="62552" anchor="ctr">
                    <a:lnL>
                      <a:noFill/>
                    </a:lnL>
                    <a:lnR>
                      <a:noFill/>
                    </a:lnR>
                    <a:lnT>
                      <a:noFill/>
                    </a:lnT>
                    <a:lnB>
                      <a:noFill/>
                    </a:lnB>
                    <a:noFill/>
                  </a:tcPr>
                </a:tc>
                <a:tc>
                  <a:txBody>
                    <a:bodyPr/>
                    <a:lstStyle/>
                    <a:p>
                      <a:pPr>
                        <a:buNone/>
                      </a:pPr>
                      <a:r>
                        <a:rPr lang="en-US" sz="1900"/>
                        <a:t>Intelligent Assistance</a:t>
                      </a:r>
                    </a:p>
                  </a:txBody>
                  <a:tcPr marL="125104" marR="125104" marT="62552" marB="62552" anchor="ctr">
                    <a:lnL>
                      <a:noFill/>
                    </a:lnL>
                    <a:lnR>
                      <a:noFill/>
                    </a:lnR>
                    <a:lnT>
                      <a:noFill/>
                    </a:lnT>
                    <a:lnB>
                      <a:noFill/>
                    </a:lnB>
                    <a:noFill/>
                  </a:tcPr>
                </a:tc>
                <a:extLst>
                  <a:ext uri="{0D108BD9-81ED-4DB2-BD59-A6C34878D82A}">
                    <a16:rowId xmlns:a16="http://schemas.microsoft.com/office/drawing/2014/main" val="3425892417"/>
                  </a:ext>
                </a:extLst>
              </a:tr>
              <a:tr h="550456">
                <a:tc>
                  <a:txBody>
                    <a:bodyPr/>
                    <a:lstStyle/>
                    <a:p>
                      <a:pPr>
                        <a:buNone/>
                      </a:pPr>
                      <a:r>
                        <a:rPr lang="en-US" sz="1900"/>
                        <a:t>NLP</a:t>
                      </a:r>
                    </a:p>
                  </a:txBody>
                  <a:tcPr marL="125104" marR="125104" marT="62552" marB="62552" anchor="ctr">
                    <a:lnL>
                      <a:noFill/>
                    </a:lnL>
                    <a:lnR>
                      <a:noFill/>
                    </a:lnR>
                    <a:lnT>
                      <a:noFill/>
                    </a:lnT>
                    <a:lnB>
                      <a:noFill/>
                    </a:lnB>
                    <a:noFill/>
                  </a:tcPr>
                </a:tc>
                <a:tc>
                  <a:txBody>
                    <a:bodyPr/>
                    <a:lstStyle/>
                    <a:p>
                      <a:pPr>
                        <a:buNone/>
                      </a:pPr>
                      <a:r>
                        <a:rPr lang="en-US" sz="1900" dirty="0"/>
                        <a:t>Query Understanding &amp; Response Generation</a:t>
                      </a:r>
                    </a:p>
                  </a:txBody>
                  <a:tcPr marL="125104" marR="125104" marT="62552" marB="62552" anchor="ctr">
                    <a:lnL>
                      <a:noFill/>
                    </a:lnL>
                    <a:lnR>
                      <a:noFill/>
                    </a:lnR>
                    <a:lnT>
                      <a:noFill/>
                    </a:lnT>
                    <a:lnB>
                      <a:noFill/>
                    </a:lnB>
                    <a:noFill/>
                  </a:tcPr>
                </a:tc>
                <a:extLst>
                  <a:ext uri="{0D108BD9-81ED-4DB2-BD59-A6C34878D82A}">
                    <a16:rowId xmlns:a16="http://schemas.microsoft.com/office/drawing/2014/main" val="497379322"/>
                  </a:ext>
                </a:extLst>
              </a:tr>
            </a:tbl>
          </a:graphicData>
        </a:graphic>
      </p:graphicFrame>
    </p:spTree>
    <p:extLst>
      <p:ext uri="{BB962C8B-B14F-4D97-AF65-F5344CB8AC3E}">
        <p14:creationId xmlns:p14="http://schemas.microsoft.com/office/powerpoint/2010/main" val="42184672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262979"/>
          </a:xfrm>
          <a:prstGeom prst="rect">
            <a:avLst/>
          </a:prstGeom>
          <a:noFill/>
        </p:spPr>
        <p:txBody>
          <a:bodyPr wrap="square" rtlCol="0">
            <a:spAutoFit/>
          </a:bodyPr>
          <a:lstStyle/>
          <a:p>
            <a:pPr fontAlgn="base"/>
            <a:endParaRPr lang="en-US" b="1" dirty="0"/>
          </a:p>
          <a:p>
            <a:r>
              <a:rPr lang="en-US" b="1" dirty="0"/>
              <a:t>Proposed Solution: </a:t>
            </a:r>
            <a:r>
              <a:rPr lang="en-US" b="1" u="sng" dirty="0"/>
              <a:t>Audio Signal Processing Assistant Agent</a:t>
            </a:r>
          </a:p>
          <a:p>
            <a:r>
              <a:rPr lang="en-US" dirty="0"/>
              <a:t>The proposed solution is an </a:t>
            </a:r>
            <a:r>
              <a:rPr lang="en-US" b="1" dirty="0"/>
              <a:t>AI-powered Audio Signal Processing Assistant Agent</a:t>
            </a:r>
            <a:r>
              <a:rPr lang="en-US" dirty="0"/>
              <a:t> developed using </a:t>
            </a:r>
            <a:r>
              <a:rPr lang="en-US" b="1" dirty="0" err="1"/>
              <a:t>LangFlow</a:t>
            </a:r>
            <a:r>
              <a:rPr lang="en-US" b="1" dirty="0"/>
              <a:t>, IBM Watsonx.ai, and IBM Granite Models</a:t>
            </a:r>
            <a:r>
              <a:rPr lang="en-US" dirty="0"/>
              <a:t>. The system is designed to assist students, engineers, researchers, and audio enthusiasts in understanding audio signal processing concepts and troubleshooting audio-related issues through natural language interaction.</a:t>
            </a:r>
          </a:p>
          <a:p>
            <a:r>
              <a:rPr lang="en-US" dirty="0"/>
              <a:t>The solution uses IBM Granite foundation models to analyze user queries and generate accurate, context-aware responses about audio systems and digital signal processing.</a:t>
            </a:r>
          </a:p>
          <a:p>
            <a:r>
              <a:rPr lang="en-US" dirty="0"/>
              <a:t>The system consists of four specialized AI functions:</a:t>
            </a:r>
          </a:p>
          <a:p>
            <a:r>
              <a:rPr lang="en-US" b="1" dirty="0"/>
              <a:t>Audio Knowledge Agent - </a:t>
            </a:r>
            <a:r>
              <a:rPr lang="en-US" dirty="0"/>
              <a:t>Provides explanations of fundamental and advanced audio signal processing concepts, including filtering, sampling, quantization, the Fourier Transform, frequency analysis, and digital audio processing.</a:t>
            </a:r>
          </a:p>
          <a:p>
            <a:r>
              <a:rPr lang="en-US" b="1" dirty="0"/>
              <a:t>Troubleshooting Agent - </a:t>
            </a:r>
            <a:r>
              <a:rPr lang="en-US" dirty="0"/>
              <a:t>Identifies common audio system issues such as humming noise, clipping, distortion, feedback, interference, and grounding problems, while suggesting practical solutions and corrective measures.</a:t>
            </a:r>
          </a:p>
          <a:p>
            <a:r>
              <a:rPr lang="en-US" b="1" dirty="0"/>
              <a:t>Signal Analysis Agent - </a:t>
            </a:r>
            <a:r>
              <a:rPr lang="en-US" dirty="0"/>
              <a:t>Assists users in understanding signal characteristics, filter selection, frequency response, noise reduction techniques, and signal conditioning methods.</a:t>
            </a:r>
          </a:p>
          <a:p>
            <a:r>
              <a:rPr lang="en-US" b="1" dirty="0"/>
              <a:t>Learning Support Agent - </a:t>
            </a:r>
            <a:r>
              <a:rPr lang="en-US" dirty="0"/>
              <a:t>Supports students and beginners by simplifying complex DSP concepts and providing educational explanations with real-world examples.</a:t>
            </a:r>
          </a:p>
          <a:p>
            <a:endParaRPr lang="en-US" dirty="0"/>
          </a:p>
          <a:p>
            <a:r>
              <a:rPr lang="en-US" dirty="0" err="1"/>
              <a:t>LangFlow</a:t>
            </a:r>
            <a:r>
              <a:rPr lang="en-US" dirty="0"/>
              <a:t> is used to design and orchestrate the workflow, while IBM watsonx.ai provides secure access to IBM Granite models for natural language understanding and intelligent response generation.</a:t>
            </a:r>
          </a:p>
          <a:p>
            <a:r>
              <a:rPr lang="en-US" dirty="0"/>
              <a:t>Overall, the proposed solution acts as a virtual Audio Signal Processing Expert, enabling users to receive instant technical guidance, troubleshoot audio-related problems, and improve their understanding of audio engineering concepts through an interactive AI-powered interface.</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706701" y="704088"/>
            <a:ext cx="7214616" cy="461665"/>
          </a:xfrm>
          <a:prstGeom prst="rect">
            <a:avLst/>
          </a:prstGeom>
          <a:noFill/>
        </p:spPr>
        <p:txBody>
          <a:bodyPr wrap="square" rtlCol="0">
            <a:spAutoFit/>
          </a:bodyPr>
          <a:lstStyle/>
          <a:p>
            <a:r>
              <a:rPr lang="en-US" sz="2400" b="1" u="sng" dirty="0"/>
              <a:t>Proposed Solution </a:t>
            </a:r>
            <a:endParaRPr lang="en-IN" sz="2400" b="1" u="sng"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useBgFill="1">
        <p:nvSpPr>
          <p:cNvPr id="158" name="Rectangle 157">
            <a:extLst>
              <a:ext uri="{FF2B5EF4-FFF2-40B4-BE49-F238E27FC236}">
                <a16:creationId xmlns:a16="http://schemas.microsoft.com/office/drawing/2014/main" id="{131BAD53-4E89-4F62-BBB7-26359763ED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0" name="Freeform: Shape 159">
            <a:extLst>
              <a:ext uri="{FF2B5EF4-FFF2-40B4-BE49-F238E27FC236}">
                <a16:creationId xmlns:a16="http://schemas.microsoft.com/office/drawing/2014/main" id="{62756DA2-40EB-4C6F-B962-5822FFB54F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5" name="Google Shape;135;p5">
            <a:extLst>
              <a:ext uri="{FF2B5EF4-FFF2-40B4-BE49-F238E27FC236}">
                <a16:creationId xmlns:a16="http://schemas.microsoft.com/office/drawing/2014/main" id="{2A145802-2DD3-EEBA-7D44-210C05B98C91}"/>
              </a:ext>
            </a:extLst>
          </p:cNvPr>
          <p:cNvSpPr/>
          <p:nvPr/>
        </p:nvSpPr>
        <p:spPr>
          <a:xfrm>
            <a:off x="862366" y="2194102"/>
            <a:ext cx="3427001" cy="3908586"/>
          </a:xfrm>
          <a:prstGeom prst="rect">
            <a:avLst/>
          </a:prstGeom>
        </p:spPr>
        <p:txBody>
          <a:bodyPr spcFirstLastPara="1" vert="horz" lIns="91440" tIns="45720" rIns="91440" bIns="45720" rtlCol="0" anchorCtr="0">
            <a:normAutofit/>
          </a:bodyPr>
          <a:lstStyle/>
          <a:p>
            <a:pPr marL="0" marR="0" lvl="0" indent="-228600">
              <a:lnSpc>
                <a:spcPct val="90000"/>
              </a:lnSpc>
              <a:spcBef>
                <a:spcPts val="0"/>
              </a:spcBef>
              <a:spcAft>
                <a:spcPts val="600"/>
              </a:spcAft>
              <a:buClr>
                <a:srgbClr val="051D3A"/>
              </a:buClr>
              <a:buSzPts val="3500"/>
              <a:buFont typeface="Arial" panose="020B0604020202020204" pitchFamily="34" charset="0"/>
              <a:buChar char="•"/>
            </a:pPr>
            <a:r>
              <a:rPr lang="en-US" sz="2000" b="1" kern="1200">
                <a:solidFill>
                  <a:schemeClr val="tx1"/>
                </a:solidFill>
                <a:latin typeface="+mn-lt"/>
                <a:ea typeface="+mn-ea"/>
                <a:cs typeface="+mn-cs"/>
                <a:sym typeface="Times New Roman"/>
              </a:rPr>
              <a:t>Langflow</a:t>
            </a:r>
            <a:r>
              <a:rPr lang="en-US" sz="2000" b="1" i="0" u="none" strike="noStrike" kern="1200" cap="none">
                <a:solidFill>
                  <a:schemeClr val="tx1"/>
                </a:solidFill>
                <a:latin typeface="+mn-lt"/>
                <a:ea typeface="+mn-ea"/>
                <a:cs typeface="+mn-cs"/>
                <a:sym typeface="Times New Roman"/>
              </a:rPr>
              <a:t> </a:t>
            </a:r>
            <a:r>
              <a:rPr lang="en-US" sz="2000" b="1" kern="1200">
                <a:solidFill>
                  <a:schemeClr val="tx1"/>
                </a:solidFill>
                <a:latin typeface="+mn-lt"/>
                <a:ea typeface="+mn-ea"/>
                <a:cs typeface="+mn-cs"/>
                <a:sym typeface="Times New Roman"/>
              </a:rPr>
              <a:t>component Used -</a:t>
            </a: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2646878"/>
          </a:xfrm>
          <a:prstGeom prst="rect">
            <a:avLst/>
          </a:prstGeom>
          <a:noFill/>
        </p:spPr>
        <p:txBody>
          <a:bodyPr wrap="square" rtlCol="0">
            <a:spAutoFit/>
          </a:bodyPr>
          <a:lstStyle/>
          <a:p>
            <a:pPr>
              <a:spcAft>
                <a:spcPts val="600"/>
              </a:spcAft>
            </a:pPr>
            <a:endParaRPr lang="en-US"/>
          </a:p>
          <a:p>
            <a:pPr>
              <a:spcAft>
                <a:spcPts val="600"/>
              </a:spcAft>
            </a:pPr>
            <a:endParaRPr lang="en-US"/>
          </a:p>
          <a:p>
            <a:pPr>
              <a:spcAft>
                <a:spcPts val="600"/>
              </a:spcAft>
            </a:pPr>
            <a:endParaRPr lang="en-US"/>
          </a:p>
          <a:p>
            <a:pPr>
              <a:spcAft>
                <a:spcPts val="600"/>
              </a:spcAft>
            </a:pPr>
            <a:endParaRPr lang="en-US"/>
          </a:p>
          <a:p>
            <a:pPr>
              <a:spcAft>
                <a:spcPts val="600"/>
              </a:spcAft>
            </a:pPr>
            <a:endParaRPr lang="en-US"/>
          </a:p>
          <a:p>
            <a:pPr>
              <a:spcAft>
                <a:spcPts val="600"/>
              </a:spcAft>
            </a:pPr>
            <a:endParaRPr lang="en-US"/>
          </a:p>
          <a:p>
            <a:pPr>
              <a:spcAft>
                <a:spcPts val="600"/>
              </a:spcAft>
            </a:pPr>
            <a:endParaRPr lang="en-US"/>
          </a:p>
          <a:p>
            <a:pPr>
              <a:spcAft>
                <a:spcPts val="600"/>
              </a:spcAft>
            </a:pPr>
            <a:endParaRPr lang="en-US"/>
          </a:p>
          <a:p>
            <a:pPr>
              <a:spcAft>
                <a:spcPts val="600"/>
              </a:spcAft>
            </a:pPr>
            <a:r>
              <a:rPr lang="en-US"/>
              <a:t> </a:t>
            </a:r>
            <a:endParaRPr lang="en-IN"/>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graphicFrame>
        <p:nvGraphicFramePr>
          <p:cNvPr id="3" name="Table 2">
            <a:extLst>
              <a:ext uri="{FF2B5EF4-FFF2-40B4-BE49-F238E27FC236}">
                <a16:creationId xmlns:a16="http://schemas.microsoft.com/office/drawing/2014/main" id="{C364DC3D-737E-9278-38AF-A562A18B06CF}"/>
              </a:ext>
            </a:extLst>
          </p:cNvPr>
          <p:cNvGraphicFramePr>
            <a:graphicFrameLocks noGrp="1"/>
          </p:cNvGraphicFramePr>
          <p:nvPr>
            <p:extLst>
              <p:ext uri="{D42A27DB-BD31-4B8C-83A1-F6EECF244321}">
                <p14:modId xmlns:p14="http://schemas.microsoft.com/office/powerpoint/2010/main" val="2233041117"/>
              </p:ext>
            </p:extLst>
          </p:nvPr>
        </p:nvGraphicFramePr>
        <p:xfrm>
          <a:off x="5016137" y="1865773"/>
          <a:ext cx="6584462" cy="3150196"/>
        </p:xfrm>
        <a:graphic>
          <a:graphicData uri="http://schemas.openxmlformats.org/drawingml/2006/table">
            <a:tbl>
              <a:tblPr/>
              <a:tblGrid>
                <a:gridCol w="2591757">
                  <a:extLst>
                    <a:ext uri="{9D8B030D-6E8A-4147-A177-3AD203B41FA5}">
                      <a16:colId xmlns:a16="http://schemas.microsoft.com/office/drawing/2014/main" val="893479816"/>
                    </a:ext>
                  </a:extLst>
                </a:gridCol>
                <a:gridCol w="3992705">
                  <a:extLst>
                    <a:ext uri="{9D8B030D-6E8A-4147-A177-3AD203B41FA5}">
                      <a16:colId xmlns:a16="http://schemas.microsoft.com/office/drawing/2014/main" val="1393040119"/>
                    </a:ext>
                  </a:extLst>
                </a:gridCol>
              </a:tblGrid>
              <a:tr h="471458">
                <a:tc>
                  <a:txBody>
                    <a:bodyPr/>
                    <a:lstStyle/>
                    <a:p>
                      <a:pPr algn="l" fontAlgn="ctr">
                        <a:buNone/>
                      </a:pPr>
                      <a:r>
                        <a:rPr lang="en-US" sz="2100" b="1" i="0" u="sng" strike="noStrike" dirty="0">
                          <a:effectLst/>
                          <a:latin typeface="Arial" panose="020B0604020202020204" pitchFamily="34" charset="0"/>
                        </a:rPr>
                        <a:t>Component</a:t>
                      </a:r>
                    </a:p>
                  </a:txBody>
                  <a:tcPr marL="107149" marR="107149" marT="53575" marB="53575" anchor="ctr">
                    <a:lnL>
                      <a:noFill/>
                    </a:lnL>
                    <a:lnR>
                      <a:noFill/>
                    </a:lnR>
                    <a:lnT>
                      <a:noFill/>
                    </a:lnT>
                    <a:lnB>
                      <a:noFill/>
                    </a:lnB>
                    <a:noFill/>
                  </a:tcPr>
                </a:tc>
                <a:tc>
                  <a:txBody>
                    <a:bodyPr/>
                    <a:lstStyle/>
                    <a:p>
                      <a:pPr algn="l" fontAlgn="ctr">
                        <a:buNone/>
                      </a:pPr>
                      <a:r>
                        <a:rPr lang="en-US" sz="2100" b="1" i="0" u="sng" strike="noStrike" dirty="0">
                          <a:effectLst/>
                          <a:latin typeface="Arial" panose="020B0604020202020204" pitchFamily="34" charset="0"/>
                        </a:rPr>
                        <a:t>Function</a:t>
                      </a:r>
                    </a:p>
                  </a:txBody>
                  <a:tcPr marL="107149" marR="107149" marT="53575" marB="53575" anchor="ctr">
                    <a:lnL>
                      <a:noFill/>
                    </a:lnL>
                    <a:lnR>
                      <a:noFill/>
                    </a:lnR>
                    <a:lnT>
                      <a:noFill/>
                    </a:lnT>
                    <a:lnB>
                      <a:noFill/>
                    </a:lnB>
                    <a:noFill/>
                  </a:tcPr>
                </a:tc>
                <a:extLst>
                  <a:ext uri="{0D108BD9-81ED-4DB2-BD59-A6C34878D82A}">
                    <a16:rowId xmlns:a16="http://schemas.microsoft.com/office/drawing/2014/main" val="3065371475"/>
                  </a:ext>
                </a:extLst>
              </a:tr>
              <a:tr h="471458">
                <a:tc>
                  <a:txBody>
                    <a:bodyPr/>
                    <a:lstStyle/>
                    <a:p>
                      <a:pPr algn="l" fontAlgn="ctr">
                        <a:buNone/>
                      </a:pPr>
                      <a:r>
                        <a:rPr lang="en-US" sz="2100" b="0" i="0" u="none" strike="noStrike">
                          <a:effectLst/>
                          <a:latin typeface="Arial" panose="020B0604020202020204" pitchFamily="34" charset="0"/>
                        </a:rPr>
                        <a:t>Chat Input</a:t>
                      </a:r>
                    </a:p>
                  </a:txBody>
                  <a:tcPr marL="107149" marR="107149" marT="53575" marB="53575" anchor="ctr">
                    <a:lnL>
                      <a:noFill/>
                    </a:lnL>
                    <a:lnR>
                      <a:noFill/>
                    </a:lnR>
                    <a:lnT>
                      <a:noFill/>
                    </a:lnT>
                    <a:lnB>
                      <a:noFill/>
                    </a:lnB>
                    <a:noFill/>
                  </a:tcPr>
                </a:tc>
                <a:tc>
                  <a:txBody>
                    <a:bodyPr/>
                    <a:lstStyle/>
                    <a:p>
                      <a:pPr algn="l" fontAlgn="ctr">
                        <a:buNone/>
                      </a:pPr>
                      <a:r>
                        <a:rPr lang="en-US" sz="2100" b="0" i="0" u="none" strike="noStrike">
                          <a:effectLst/>
                          <a:latin typeface="Arial" panose="020B0604020202020204" pitchFamily="34" charset="0"/>
                        </a:rPr>
                        <a:t>Receives user queries</a:t>
                      </a:r>
                    </a:p>
                  </a:txBody>
                  <a:tcPr marL="107149" marR="107149" marT="53575" marB="53575" anchor="ctr">
                    <a:lnL>
                      <a:noFill/>
                    </a:lnL>
                    <a:lnR>
                      <a:noFill/>
                    </a:lnR>
                    <a:lnT>
                      <a:noFill/>
                    </a:lnT>
                    <a:lnB>
                      <a:noFill/>
                    </a:lnB>
                    <a:noFill/>
                  </a:tcPr>
                </a:tc>
                <a:extLst>
                  <a:ext uri="{0D108BD9-81ED-4DB2-BD59-A6C34878D82A}">
                    <a16:rowId xmlns:a16="http://schemas.microsoft.com/office/drawing/2014/main" val="5793546"/>
                  </a:ext>
                </a:extLst>
              </a:tr>
              <a:tr h="471458">
                <a:tc>
                  <a:txBody>
                    <a:bodyPr/>
                    <a:lstStyle/>
                    <a:p>
                      <a:pPr algn="l" fontAlgn="ctr">
                        <a:buNone/>
                      </a:pPr>
                      <a:r>
                        <a:rPr lang="en-US" sz="2100" b="0" i="0" u="none" strike="noStrike">
                          <a:effectLst/>
                          <a:latin typeface="Arial" panose="020B0604020202020204" pitchFamily="34" charset="0"/>
                        </a:rPr>
                        <a:t>Prompt Template</a:t>
                      </a:r>
                    </a:p>
                  </a:txBody>
                  <a:tcPr marL="107149" marR="107149" marT="53575" marB="53575" anchor="ctr">
                    <a:lnL>
                      <a:noFill/>
                    </a:lnL>
                    <a:lnR>
                      <a:noFill/>
                    </a:lnR>
                    <a:lnT>
                      <a:noFill/>
                    </a:lnT>
                    <a:lnB>
                      <a:noFill/>
                    </a:lnB>
                    <a:noFill/>
                  </a:tcPr>
                </a:tc>
                <a:tc>
                  <a:txBody>
                    <a:bodyPr/>
                    <a:lstStyle/>
                    <a:p>
                      <a:pPr algn="l" fontAlgn="ctr">
                        <a:buNone/>
                      </a:pPr>
                      <a:r>
                        <a:rPr lang="en-US" sz="2100" b="0" i="0" u="none" strike="noStrike">
                          <a:effectLst/>
                          <a:latin typeface="Arial" panose="020B0604020202020204" pitchFamily="34" charset="0"/>
                        </a:rPr>
                        <a:t>Defines AI assistant behavior</a:t>
                      </a:r>
                    </a:p>
                  </a:txBody>
                  <a:tcPr marL="107149" marR="107149" marT="53575" marB="53575" anchor="ctr">
                    <a:lnL>
                      <a:noFill/>
                    </a:lnL>
                    <a:lnR>
                      <a:noFill/>
                    </a:lnR>
                    <a:lnT>
                      <a:noFill/>
                    </a:lnT>
                    <a:lnB>
                      <a:noFill/>
                    </a:lnB>
                    <a:noFill/>
                  </a:tcPr>
                </a:tc>
                <a:extLst>
                  <a:ext uri="{0D108BD9-81ED-4DB2-BD59-A6C34878D82A}">
                    <a16:rowId xmlns:a16="http://schemas.microsoft.com/office/drawing/2014/main" val="4278712678"/>
                  </a:ext>
                </a:extLst>
              </a:tr>
              <a:tr h="471458">
                <a:tc>
                  <a:txBody>
                    <a:bodyPr/>
                    <a:lstStyle/>
                    <a:p>
                      <a:pPr algn="l" fontAlgn="ctr">
                        <a:buNone/>
                      </a:pPr>
                      <a:r>
                        <a:rPr lang="en-US" sz="2100" b="0" i="0" u="none" strike="noStrike">
                          <a:effectLst/>
                          <a:latin typeface="Arial" panose="020B0604020202020204" pitchFamily="34" charset="0"/>
                        </a:rPr>
                        <a:t>IBM watsonx.ai</a:t>
                      </a:r>
                    </a:p>
                  </a:txBody>
                  <a:tcPr marL="107149" marR="107149" marT="53575" marB="53575" anchor="ctr">
                    <a:lnL>
                      <a:noFill/>
                    </a:lnL>
                    <a:lnR>
                      <a:noFill/>
                    </a:lnR>
                    <a:lnT>
                      <a:noFill/>
                    </a:lnT>
                    <a:lnB>
                      <a:noFill/>
                    </a:lnB>
                    <a:noFill/>
                  </a:tcPr>
                </a:tc>
                <a:tc>
                  <a:txBody>
                    <a:bodyPr/>
                    <a:lstStyle/>
                    <a:p>
                      <a:pPr algn="l" fontAlgn="ctr">
                        <a:buNone/>
                      </a:pPr>
                      <a:r>
                        <a:rPr lang="en-US" sz="2100" b="0" i="0" u="none" strike="noStrike">
                          <a:effectLst/>
                          <a:latin typeface="Arial" panose="020B0604020202020204" pitchFamily="34" charset="0"/>
                        </a:rPr>
                        <a:t>Connects to IBM AI services</a:t>
                      </a:r>
                    </a:p>
                  </a:txBody>
                  <a:tcPr marL="107149" marR="107149" marT="53575" marB="53575" anchor="ctr">
                    <a:lnL>
                      <a:noFill/>
                    </a:lnL>
                    <a:lnR>
                      <a:noFill/>
                    </a:lnR>
                    <a:lnT>
                      <a:noFill/>
                    </a:lnT>
                    <a:lnB>
                      <a:noFill/>
                    </a:lnB>
                    <a:noFill/>
                  </a:tcPr>
                </a:tc>
                <a:extLst>
                  <a:ext uri="{0D108BD9-81ED-4DB2-BD59-A6C34878D82A}">
                    <a16:rowId xmlns:a16="http://schemas.microsoft.com/office/drawing/2014/main" val="773454149"/>
                  </a:ext>
                </a:extLst>
              </a:tr>
              <a:tr h="792906">
                <a:tc>
                  <a:txBody>
                    <a:bodyPr/>
                    <a:lstStyle/>
                    <a:p>
                      <a:pPr algn="l" fontAlgn="ctr">
                        <a:buNone/>
                      </a:pPr>
                      <a:r>
                        <a:rPr lang="en-US" sz="2100" b="0" i="0" u="none" strike="noStrike">
                          <a:effectLst/>
                          <a:latin typeface="Arial" panose="020B0604020202020204" pitchFamily="34" charset="0"/>
                        </a:rPr>
                        <a:t>IBM Granite Model</a:t>
                      </a:r>
                    </a:p>
                  </a:txBody>
                  <a:tcPr marL="107149" marR="107149" marT="53575" marB="53575" anchor="ctr">
                    <a:lnL>
                      <a:noFill/>
                    </a:lnL>
                    <a:lnR>
                      <a:noFill/>
                    </a:lnR>
                    <a:lnT>
                      <a:noFill/>
                    </a:lnT>
                    <a:lnB>
                      <a:noFill/>
                    </a:lnB>
                    <a:noFill/>
                  </a:tcPr>
                </a:tc>
                <a:tc>
                  <a:txBody>
                    <a:bodyPr/>
                    <a:lstStyle/>
                    <a:p>
                      <a:pPr algn="l" fontAlgn="ctr">
                        <a:buNone/>
                      </a:pPr>
                      <a:r>
                        <a:rPr lang="en-US" sz="2100" b="0" i="0" u="none" strike="noStrike">
                          <a:effectLst/>
                          <a:latin typeface="Arial" panose="020B0604020202020204" pitchFamily="34" charset="0"/>
                        </a:rPr>
                        <a:t>Generates intelligent responses</a:t>
                      </a:r>
                    </a:p>
                  </a:txBody>
                  <a:tcPr marL="107149" marR="107149" marT="53575" marB="53575" anchor="ctr">
                    <a:lnL>
                      <a:noFill/>
                    </a:lnL>
                    <a:lnR>
                      <a:noFill/>
                    </a:lnR>
                    <a:lnT>
                      <a:noFill/>
                    </a:lnT>
                    <a:lnB>
                      <a:noFill/>
                    </a:lnB>
                    <a:noFill/>
                  </a:tcPr>
                </a:tc>
                <a:extLst>
                  <a:ext uri="{0D108BD9-81ED-4DB2-BD59-A6C34878D82A}">
                    <a16:rowId xmlns:a16="http://schemas.microsoft.com/office/drawing/2014/main" val="1085479817"/>
                  </a:ext>
                </a:extLst>
              </a:tr>
              <a:tr h="471458">
                <a:tc>
                  <a:txBody>
                    <a:bodyPr/>
                    <a:lstStyle/>
                    <a:p>
                      <a:pPr algn="l" fontAlgn="ctr">
                        <a:buNone/>
                      </a:pPr>
                      <a:r>
                        <a:rPr lang="en-US" sz="2100" b="0" i="0" u="none" strike="noStrike">
                          <a:effectLst/>
                          <a:latin typeface="Arial" panose="020B0604020202020204" pitchFamily="34" charset="0"/>
                        </a:rPr>
                        <a:t>Chat Output</a:t>
                      </a:r>
                    </a:p>
                  </a:txBody>
                  <a:tcPr marL="107149" marR="107149" marT="53575" marB="53575" anchor="ctr">
                    <a:lnL>
                      <a:noFill/>
                    </a:lnL>
                    <a:lnR>
                      <a:noFill/>
                    </a:lnR>
                    <a:lnT>
                      <a:noFill/>
                    </a:lnT>
                    <a:lnB>
                      <a:noFill/>
                    </a:lnB>
                    <a:noFill/>
                  </a:tcPr>
                </a:tc>
                <a:tc>
                  <a:txBody>
                    <a:bodyPr/>
                    <a:lstStyle/>
                    <a:p>
                      <a:pPr algn="l" fontAlgn="ctr">
                        <a:buNone/>
                      </a:pPr>
                      <a:r>
                        <a:rPr lang="en-US" sz="2100" b="0" i="0" u="none" strike="noStrike" dirty="0">
                          <a:effectLst/>
                          <a:latin typeface="Arial" panose="020B0604020202020204" pitchFamily="34" charset="0"/>
                        </a:rPr>
                        <a:t>Displays results to users</a:t>
                      </a:r>
                    </a:p>
                  </a:txBody>
                  <a:tcPr marL="107149" marR="107149" marT="53575" marB="53575" anchor="ctr">
                    <a:lnL>
                      <a:noFill/>
                    </a:lnL>
                    <a:lnR>
                      <a:noFill/>
                    </a:lnR>
                    <a:lnT>
                      <a:noFill/>
                    </a:lnT>
                    <a:lnB>
                      <a:noFill/>
                    </a:lnB>
                    <a:noFill/>
                  </a:tcPr>
                </a:tc>
                <a:extLst>
                  <a:ext uri="{0D108BD9-81ED-4DB2-BD59-A6C34878D82A}">
                    <a16:rowId xmlns:a16="http://schemas.microsoft.com/office/drawing/2014/main" val="2700748197"/>
                  </a:ext>
                </a:extLst>
              </a:tr>
            </a:tbl>
          </a:graphicData>
        </a:graphic>
      </p:graphicFrame>
    </p:spTree>
    <p:extLst>
      <p:ext uri="{BB962C8B-B14F-4D97-AF65-F5344CB8AC3E}">
        <p14:creationId xmlns:p14="http://schemas.microsoft.com/office/powerpoint/2010/main" val="3285263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F0A604E4-7307-451C-93BE-F1F7E1BF3B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200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7F3A0AA-35E5-4085-942B-7378390306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82344"/>
            <a:ext cx="12191998" cy="1590742"/>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02F5C38-C747-4173-ABBF-656E39E821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5282344"/>
            <a:ext cx="8115300" cy="1590742"/>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37EECFC-A684-4391-AE85-4CDAF5565F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5282344"/>
            <a:ext cx="12191998" cy="1590742"/>
          </a:xfrm>
          <a:prstGeom prst="rect">
            <a:avLst/>
          </a:prstGeom>
          <a:gradFill>
            <a:gsLst>
              <a:gs pos="0">
                <a:srgbClr val="000000">
                  <a:alpha val="71765"/>
                </a:srgbClr>
              </a:gs>
              <a:gs pos="100000">
                <a:schemeClr val="accent1">
                  <a:alpha val="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Google Shape;135;p5">
            <a:extLst>
              <a:ext uri="{FF2B5EF4-FFF2-40B4-BE49-F238E27FC236}">
                <a16:creationId xmlns:a16="http://schemas.microsoft.com/office/drawing/2014/main" id="{B64CF172-D2AF-03D8-F919-AA7827A0D969}"/>
              </a:ext>
            </a:extLst>
          </p:cNvPr>
          <p:cNvSpPr/>
          <p:nvPr/>
        </p:nvSpPr>
        <p:spPr>
          <a:xfrm>
            <a:off x="699714" y="5490971"/>
            <a:ext cx="6962072" cy="1159200"/>
          </a:xfrm>
          <a:prstGeom prst="rect">
            <a:avLst/>
          </a:prstGeom>
        </p:spPr>
        <p:txBody>
          <a:bodyPr spcFirstLastPara="1" vert="horz" lIns="91440" tIns="45720" rIns="91440" bIns="45720" rtlCol="0" anchor="ctr" anchorCtr="0">
            <a:normAutofit/>
          </a:bodyPr>
          <a:lstStyle/>
          <a:p>
            <a:pPr marL="0" marR="0" lvl="0" indent="0">
              <a:lnSpc>
                <a:spcPct val="90000"/>
              </a:lnSpc>
              <a:spcBef>
                <a:spcPct val="0"/>
              </a:spcBef>
              <a:spcAft>
                <a:spcPts val="600"/>
              </a:spcAft>
              <a:buClr>
                <a:srgbClr val="051D3A"/>
              </a:buClr>
              <a:buSzPts val="3500"/>
            </a:pPr>
            <a:r>
              <a:rPr lang="en-US" sz="4000" b="1" kern="1200">
                <a:solidFill>
                  <a:srgbClr val="FFFFFF"/>
                </a:solidFill>
                <a:latin typeface="+mj-lt"/>
                <a:ea typeface="+mj-ea"/>
                <a:cs typeface="+mj-cs"/>
                <a:sym typeface="Times New Roman"/>
              </a:rPr>
              <a:t>Langflow</a:t>
            </a:r>
            <a:r>
              <a:rPr lang="en-US" sz="4000" b="1" i="0" u="none" strike="noStrike" kern="1200" cap="none">
                <a:solidFill>
                  <a:srgbClr val="FFFFFF"/>
                </a:solidFill>
                <a:latin typeface="+mj-lt"/>
                <a:ea typeface="+mj-ea"/>
                <a:cs typeface="+mj-cs"/>
                <a:sym typeface="Times New Roman"/>
              </a:rPr>
              <a:t> </a:t>
            </a:r>
            <a:r>
              <a:rPr lang="en-US" sz="4000" b="1" kern="1200">
                <a:solidFill>
                  <a:srgbClr val="FFFFFF"/>
                </a:solidFill>
                <a:latin typeface="+mj-lt"/>
                <a:ea typeface="+mj-ea"/>
                <a:cs typeface="+mj-cs"/>
                <a:sym typeface="Times New Roman"/>
              </a:rPr>
              <a:t>workflow -</a:t>
            </a:r>
          </a:p>
        </p:txBody>
      </p:sp>
      <p:pic>
        <p:nvPicPr>
          <p:cNvPr id="5" name="Picture 4">
            <a:extLst>
              <a:ext uri="{FF2B5EF4-FFF2-40B4-BE49-F238E27FC236}">
                <a16:creationId xmlns:a16="http://schemas.microsoft.com/office/drawing/2014/main" id="{4F92B8BA-5840-4BA4-F354-E924B991DE84}"/>
              </a:ext>
            </a:extLst>
          </p:cNvPr>
          <p:cNvPicPr>
            <a:picLocks noChangeAspect="1"/>
          </p:cNvPicPr>
          <p:nvPr/>
        </p:nvPicPr>
        <p:blipFill>
          <a:blip r:embed="rId3"/>
          <a:stretch>
            <a:fillRect/>
          </a:stretch>
        </p:blipFill>
        <p:spPr>
          <a:xfrm>
            <a:off x="357051" y="390832"/>
            <a:ext cx="10981509" cy="4519114"/>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7725019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173"/>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3C54F4CE-85F0-46ED-80DA-9518C9251A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DADD1FCA-8ACB-4958-81DD-4CDD6D3E19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802086" cy="6858000"/>
          </a:xfrm>
          <a:custGeom>
            <a:avLst/>
            <a:gdLst>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9647 w 5734864"/>
              <a:gd name="connsiteY33" fmla="*/ 1936120 h 6858000"/>
              <a:gd name="connsiteX34" fmla="*/ 714660 w 5734864"/>
              <a:gd name="connsiteY34" fmla="*/ 1982709 h 6858000"/>
              <a:gd name="connsiteX35" fmla="*/ 710759 w 5734864"/>
              <a:gd name="connsiteY35" fmla="*/ 2013010 h 6858000"/>
              <a:gd name="connsiteX36" fmla="*/ 697927 w 5734864"/>
              <a:gd name="connsiteY36" fmla="*/ 2069833 h 6858000"/>
              <a:gd name="connsiteX37" fmla="*/ 693594 w 5734864"/>
              <a:gd name="connsiteY37" fmla="*/ 2103731 h 6858000"/>
              <a:gd name="connsiteX38" fmla="*/ 691109 w 5734864"/>
              <a:gd name="connsiteY38" fmla="*/ 2124027 h 6858000"/>
              <a:gd name="connsiteX39" fmla="*/ 676593 w 5734864"/>
              <a:gd name="connsiteY39" fmla="*/ 2176182 h 6858000"/>
              <a:gd name="connsiteX40" fmla="*/ 633227 w 5734864"/>
              <a:gd name="connsiteY40" fmla="*/ 2258036 h 6858000"/>
              <a:gd name="connsiteX41" fmla="*/ 625564 w 5734864"/>
              <a:gd name="connsiteY41" fmla="*/ 2284567 h 6858000"/>
              <a:gd name="connsiteX42" fmla="*/ 627074 w 5734864"/>
              <a:gd name="connsiteY42" fmla="*/ 2289605 h 6858000"/>
              <a:gd name="connsiteX43" fmla="*/ 614574 w 5734864"/>
              <a:gd name="connsiteY43" fmla="*/ 2308717 h 6858000"/>
              <a:gd name="connsiteX44" fmla="*/ 606890 w 5734864"/>
              <a:gd name="connsiteY44" fmla="*/ 2320662 h 6858000"/>
              <a:gd name="connsiteX45" fmla="*/ 605558 w 5734864"/>
              <a:gd name="connsiteY45" fmla="*/ 2327897 h 6858000"/>
              <a:gd name="connsiteX46" fmla="*/ 602202 w 5734864"/>
              <a:gd name="connsiteY46" fmla="*/ 2357749 h 6858000"/>
              <a:gd name="connsiteX47" fmla="*/ 600213 w 5734864"/>
              <a:gd name="connsiteY47" fmla="*/ 2364905 h 6858000"/>
              <a:gd name="connsiteX48" fmla="*/ 597160 w 5734864"/>
              <a:gd name="connsiteY48" fmla="*/ 2388351 h 6858000"/>
              <a:gd name="connsiteX49" fmla="*/ 597982 w 5734864"/>
              <a:gd name="connsiteY49" fmla="*/ 2402296 h 6858000"/>
              <a:gd name="connsiteX50" fmla="*/ 593150 w 5734864"/>
              <a:gd name="connsiteY50" fmla="*/ 2420015 h 6858000"/>
              <a:gd name="connsiteX51" fmla="*/ 592833 w 5734864"/>
              <a:gd name="connsiteY51" fmla="*/ 2422749 h 6858000"/>
              <a:gd name="connsiteX52" fmla="*/ 594479 w 5734864"/>
              <a:gd name="connsiteY52" fmla="*/ 2426002 h 6858000"/>
              <a:gd name="connsiteX53" fmla="*/ 591963 w 5734864"/>
              <a:gd name="connsiteY53" fmla="*/ 2431950 h 6858000"/>
              <a:gd name="connsiteX54" fmla="*/ 591544 w 5734864"/>
              <a:gd name="connsiteY54" fmla="*/ 2433897 h 6858000"/>
              <a:gd name="connsiteX55" fmla="*/ 589519 w 5734864"/>
              <a:gd name="connsiteY55" fmla="*/ 2451398 h 6858000"/>
              <a:gd name="connsiteX56" fmla="*/ 590037 w 5734864"/>
              <a:gd name="connsiteY56" fmla="*/ 2455536 h 6858000"/>
              <a:gd name="connsiteX57" fmla="*/ 588179 w 5734864"/>
              <a:gd name="connsiteY57" fmla="*/ 2462981 h 6858000"/>
              <a:gd name="connsiteX58" fmla="*/ 583434 w 5734864"/>
              <a:gd name="connsiteY58" fmla="*/ 2503991 h 6858000"/>
              <a:gd name="connsiteX59" fmla="*/ 567942 w 5734864"/>
              <a:gd name="connsiteY59" fmla="*/ 2652936 h 6858000"/>
              <a:gd name="connsiteX60" fmla="*/ 573869 w 5734864"/>
              <a:gd name="connsiteY60" fmla="*/ 2670188 h 6858000"/>
              <a:gd name="connsiteX61" fmla="*/ 575243 w 5734864"/>
              <a:gd name="connsiteY61" fmla="*/ 2688114 h 6858000"/>
              <a:gd name="connsiteX62" fmla="*/ 573824 w 5734864"/>
              <a:gd name="connsiteY62" fmla="*/ 2689856 h 6858000"/>
              <a:gd name="connsiteX63" fmla="*/ 570699 w 5734864"/>
              <a:gd name="connsiteY63" fmla="*/ 2709353 h 6858000"/>
              <a:gd name="connsiteX64" fmla="*/ 573192 w 5734864"/>
              <a:gd name="connsiteY64" fmla="*/ 2714527 h 6858000"/>
              <a:gd name="connsiteX65" fmla="*/ 572044 w 5734864"/>
              <a:gd name="connsiteY65" fmla="*/ 2728187 h 6858000"/>
              <a:gd name="connsiteX66" fmla="*/ 572465 w 5734864"/>
              <a:gd name="connsiteY66" fmla="*/ 2755863 h 6858000"/>
              <a:gd name="connsiteX67" fmla="*/ 570028 w 5734864"/>
              <a:gd name="connsiteY67" fmla="*/ 2760324 h 6858000"/>
              <a:gd name="connsiteX68" fmla="*/ 566748 w 5734864"/>
              <a:gd name="connsiteY68" fmla="*/ 2800948 h 6858000"/>
              <a:gd name="connsiteX69" fmla="*/ 565509 w 5734864"/>
              <a:gd name="connsiteY69" fmla="*/ 2801167 h 6858000"/>
              <a:gd name="connsiteX70" fmla="*/ 559367 w 5734864"/>
              <a:gd name="connsiteY70" fmla="*/ 2811129 h 6858000"/>
              <a:gd name="connsiteX71" fmla="*/ 550354 w 5734864"/>
              <a:gd name="connsiteY71" fmla="*/ 2830949 h 6858000"/>
              <a:gd name="connsiteX72" fmla="*/ 514795 w 5734864"/>
              <a:gd name="connsiteY72" fmla="*/ 2872433 h 6858000"/>
              <a:gd name="connsiteX73" fmla="*/ 509875 w 5734864"/>
              <a:gd name="connsiteY73" fmla="*/ 2923099 h 6858000"/>
              <a:gd name="connsiteX74" fmla="*/ 509577 w 5734864"/>
              <a:gd name="connsiteY74" fmla="*/ 2923197 h 6858000"/>
              <a:gd name="connsiteX75" fmla="*/ 507597 w 5734864"/>
              <a:gd name="connsiteY75" fmla="*/ 2931868 h 6858000"/>
              <a:gd name="connsiteX76" fmla="*/ 507379 w 5734864"/>
              <a:gd name="connsiteY76" fmla="*/ 2938322 h 6858000"/>
              <a:gd name="connsiteX77" fmla="*/ 504725 w 5734864"/>
              <a:gd name="connsiteY77" fmla="*/ 2954519 h 6858000"/>
              <a:gd name="connsiteX78" fmla="*/ 502018 w 5734864"/>
              <a:gd name="connsiteY78" fmla="*/ 2959643 h 6858000"/>
              <a:gd name="connsiteX79" fmla="*/ 498360 w 5734864"/>
              <a:gd name="connsiteY79" fmla="*/ 2961019 h 6858000"/>
              <a:gd name="connsiteX80" fmla="*/ 498483 w 5734864"/>
              <a:gd name="connsiteY80" fmla="*/ 2962590 h 6858000"/>
              <a:gd name="connsiteX81" fmla="*/ 484403 w 5734864"/>
              <a:gd name="connsiteY81" fmla="*/ 2990538 h 6858000"/>
              <a:gd name="connsiteX82" fmla="*/ 463075 w 5734864"/>
              <a:gd name="connsiteY82" fmla="*/ 3055956 h 6858000"/>
              <a:gd name="connsiteX83" fmla="*/ 455013 w 5734864"/>
              <a:gd name="connsiteY83" fmla="*/ 3094482 h 6858000"/>
              <a:gd name="connsiteX84" fmla="*/ 428391 w 5734864"/>
              <a:gd name="connsiteY84" fmla="*/ 3198850 h 6858000"/>
              <a:gd name="connsiteX85" fmla="*/ 401440 w 5734864"/>
              <a:gd name="connsiteY85" fmla="*/ 3307560 h 6858000"/>
              <a:gd name="connsiteX86" fmla="*/ 386076 w 5734864"/>
              <a:gd name="connsiteY86" fmla="*/ 3373943 h 6858000"/>
              <a:gd name="connsiteX87" fmla="*/ 374726 w 5734864"/>
              <a:gd name="connsiteY87" fmla="*/ 3381364 h 6858000"/>
              <a:gd name="connsiteX88" fmla="*/ 369145 w 5734864"/>
              <a:gd name="connsiteY88" fmla="*/ 3383729 h 6858000"/>
              <a:gd name="connsiteX89" fmla="*/ 364294 w 5734864"/>
              <a:gd name="connsiteY89" fmla="*/ 3414159 h 6858000"/>
              <a:gd name="connsiteX90" fmla="*/ 366450 w 5734864"/>
              <a:gd name="connsiteY90" fmla="*/ 3436925 h 6858000"/>
              <a:gd name="connsiteX91" fmla="*/ 351743 w 5734864"/>
              <a:gd name="connsiteY91" fmla="*/ 3521619 h 6858000"/>
              <a:gd name="connsiteX92" fmla="*/ 345784 w 5734864"/>
              <a:gd name="connsiteY92" fmla="*/ 3603757 h 6858000"/>
              <a:gd name="connsiteX93" fmla="*/ 344198 w 5734864"/>
              <a:gd name="connsiteY93" fmla="*/ 3652424 h 6858000"/>
              <a:gd name="connsiteX94" fmla="*/ 352450 w 5734864"/>
              <a:gd name="connsiteY94" fmla="*/ 3665222 h 6858000"/>
              <a:gd name="connsiteX95" fmla="*/ 342621 w 5734864"/>
              <a:gd name="connsiteY95" fmla="*/ 3700804 h 6858000"/>
              <a:gd name="connsiteX96" fmla="*/ 341514 w 5734864"/>
              <a:gd name="connsiteY96" fmla="*/ 3734774 h 6858000"/>
              <a:gd name="connsiteX97" fmla="*/ 340607 w 5734864"/>
              <a:gd name="connsiteY97" fmla="*/ 3785153 h 6858000"/>
              <a:gd name="connsiteX98" fmla="*/ 340707 w 5734864"/>
              <a:gd name="connsiteY98" fmla="*/ 3788177 h 6858000"/>
              <a:gd name="connsiteX99" fmla="*/ 340361 w 5734864"/>
              <a:gd name="connsiteY99" fmla="*/ 3798803 h 6858000"/>
              <a:gd name="connsiteX100" fmla="*/ 339642 w 5734864"/>
              <a:gd name="connsiteY100" fmla="*/ 3838750 h 6858000"/>
              <a:gd name="connsiteX101" fmla="*/ 360295 w 5734864"/>
              <a:gd name="connsiteY101" fmla="*/ 4015196 h 6858000"/>
              <a:gd name="connsiteX102" fmla="*/ 339043 w 5734864"/>
              <a:gd name="connsiteY102" fmla="*/ 4052778 h 6858000"/>
              <a:gd name="connsiteX103" fmla="*/ 339343 w 5734864"/>
              <a:gd name="connsiteY103" fmla="*/ 4096257 h 6858000"/>
              <a:gd name="connsiteX104" fmla="*/ 340786 w 5734864"/>
              <a:gd name="connsiteY104" fmla="*/ 4321136 h 6858000"/>
              <a:gd name="connsiteX105" fmla="*/ 343158 w 5734864"/>
              <a:gd name="connsiteY105" fmla="*/ 4429174 h 6858000"/>
              <a:gd name="connsiteX106" fmla="*/ 334599 w 5734864"/>
              <a:gd name="connsiteY106" fmla="*/ 4449938 h 6858000"/>
              <a:gd name="connsiteX107" fmla="*/ 332890 w 5734864"/>
              <a:gd name="connsiteY107" fmla="*/ 4453515 h 6858000"/>
              <a:gd name="connsiteX108" fmla="*/ 331105 w 5734864"/>
              <a:gd name="connsiteY108" fmla="*/ 4467941 h 6858000"/>
              <a:gd name="connsiteX109" fmla="*/ 324289 w 5734864"/>
              <a:gd name="connsiteY109" fmla="*/ 4471861 h 6858000"/>
              <a:gd name="connsiteX110" fmla="*/ 317079 w 5734864"/>
              <a:gd name="connsiteY110" fmla="*/ 4493468 h 6858000"/>
              <a:gd name="connsiteX111" fmla="*/ 315557 w 5734864"/>
              <a:gd name="connsiteY111" fmla="*/ 4520067 h 6858000"/>
              <a:gd name="connsiteX112" fmla="*/ 315240 w 5734864"/>
              <a:gd name="connsiteY112" fmla="*/ 4536872 h 6858000"/>
              <a:gd name="connsiteX113" fmla="*/ 316200 w 5734864"/>
              <a:gd name="connsiteY113" fmla="*/ 4538297 h 6858000"/>
              <a:gd name="connsiteX114" fmla="*/ 317507 w 5734864"/>
              <a:gd name="connsiteY114" fmla="*/ 4547582 h 6858000"/>
              <a:gd name="connsiteX115" fmla="*/ 323078 w 5734864"/>
              <a:gd name="connsiteY115" fmla="*/ 4592102 h 6858000"/>
              <a:gd name="connsiteX116" fmla="*/ 328722 w 5734864"/>
              <a:gd name="connsiteY116" fmla="*/ 4667914 h 6858000"/>
              <a:gd name="connsiteX117" fmla="*/ 335597 w 5734864"/>
              <a:gd name="connsiteY117" fmla="*/ 4695035 h 6858000"/>
              <a:gd name="connsiteX118" fmla="*/ 339485 w 5734864"/>
              <a:gd name="connsiteY118" fmla="*/ 4695979 h 6858000"/>
              <a:gd name="connsiteX119" fmla="*/ 341089 w 5734864"/>
              <a:gd name="connsiteY119" fmla="*/ 4704268 h 6858000"/>
              <a:gd name="connsiteX120" fmla="*/ 342177 w 5734864"/>
              <a:gd name="connsiteY120" fmla="*/ 4706060 h 6858000"/>
              <a:gd name="connsiteX121" fmla="*/ 347751 w 5734864"/>
              <a:gd name="connsiteY121" fmla="*/ 4716754 h 6858000"/>
              <a:gd name="connsiteX122" fmla="*/ 344125 w 5734864"/>
              <a:gd name="connsiteY122" fmla="*/ 4764669 h 6858000"/>
              <a:gd name="connsiteX123" fmla="*/ 340188 w 5734864"/>
              <a:gd name="connsiteY123" fmla="*/ 4779386 h 6858000"/>
              <a:gd name="connsiteX124" fmla="*/ 335146 w 5734864"/>
              <a:gd name="connsiteY124" fmla="*/ 4787491 h 6858000"/>
              <a:gd name="connsiteX125" fmla="*/ 319124 w 5734864"/>
              <a:gd name="connsiteY125" fmla="*/ 4843514 h 6858000"/>
              <a:gd name="connsiteX126" fmla="*/ 305956 w 5734864"/>
              <a:gd name="connsiteY126" fmla="*/ 4881505 h 6858000"/>
              <a:gd name="connsiteX127" fmla="*/ 301062 w 5734864"/>
              <a:gd name="connsiteY127" fmla="*/ 4889332 h 6858000"/>
              <a:gd name="connsiteX128" fmla="*/ 302141 w 5734864"/>
              <a:gd name="connsiteY128" fmla="*/ 4899400 h 6858000"/>
              <a:gd name="connsiteX129" fmla="*/ 304424 w 5734864"/>
              <a:gd name="connsiteY129" fmla="*/ 4902664 h 6858000"/>
              <a:gd name="connsiteX130" fmla="*/ 293123 w 5734864"/>
              <a:gd name="connsiteY130" fmla="*/ 4932769 h 6858000"/>
              <a:gd name="connsiteX131" fmla="*/ 292275 w 5734864"/>
              <a:gd name="connsiteY131" fmla="*/ 4936482 h 6858000"/>
              <a:gd name="connsiteX132" fmla="*/ 288304 w 5734864"/>
              <a:gd name="connsiteY132" fmla="*/ 4962325 h 6858000"/>
              <a:gd name="connsiteX133" fmla="*/ 287420 w 5734864"/>
              <a:gd name="connsiteY133" fmla="*/ 5042193 h 6858000"/>
              <a:gd name="connsiteX134" fmla="*/ 287020 w 5734864"/>
              <a:gd name="connsiteY134" fmla="*/ 5065655 h 6858000"/>
              <a:gd name="connsiteX135" fmla="*/ 288488 w 5734864"/>
              <a:gd name="connsiteY135" fmla="*/ 5082216 h 6858000"/>
              <a:gd name="connsiteX136" fmla="*/ 282763 w 5734864"/>
              <a:gd name="connsiteY136" fmla="*/ 5127114 h 6858000"/>
              <a:gd name="connsiteX137" fmla="*/ 269316 w 5734864"/>
              <a:gd name="connsiteY137" fmla="*/ 5202682 h 6858000"/>
              <a:gd name="connsiteX138" fmla="*/ 269174 w 5734864"/>
              <a:gd name="connsiteY138" fmla="*/ 5230835 h 6858000"/>
              <a:gd name="connsiteX139" fmla="*/ 272679 w 5734864"/>
              <a:gd name="connsiteY139" fmla="*/ 5232660 h 6858000"/>
              <a:gd name="connsiteX140" fmla="*/ 272160 w 5734864"/>
              <a:gd name="connsiteY140" fmla="*/ 5241150 h 6858000"/>
              <a:gd name="connsiteX141" fmla="*/ 272760 w 5734864"/>
              <a:gd name="connsiteY141" fmla="*/ 5243156 h 6858000"/>
              <a:gd name="connsiteX142" fmla="*/ 275462 w 5734864"/>
              <a:gd name="connsiteY142" fmla="*/ 5254919 h 6858000"/>
              <a:gd name="connsiteX143" fmla="*/ 262897 w 5734864"/>
              <a:gd name="connsiteY143" fmla="*/ 5286259 h 6858000"/>
              <a:gd name="connsiteX144" fmla="*/ 252761 w 5734864"/>
              <a:gd name="connsiteY144" fmla="*/ 5357801 h 6858000"/>
              <a:gd name="connsiteX145" fmla="*/ 242360 w 5734864"/>
              <a:gd name="connsiteY145" fmla="*/ 5460080 h 6858000"/>
              <a:gd name="connsiteX146" fmla="*/ 229880 w 5734864"/>
              <a:gd name="connsiteY146" fmla="*/ 5539714 h 6858000"/>
              <a:gd name="connsiteX147" fmla="*/ 204283 w 5734864"/>
              <a:gd name="connsiteY147" fmla="*/ 5639080 h 6858000"/>
              <a:gd name="connsiteX148" fmla="*/ 198948 w 5734864"/>
              <a:gd name="connsiteY148" fmla="*/ 5710958 h 6858000"/>
              <a:gd name="connsiteX149" fmla="*/ 192367 w 5734864"/>
              <a:gd name="connsiteY149" fmla="*/ 5719859 h 6858000"/>
              <a:gd name="connsiteX150" fmla="*/ 188035 w 5734864"/>
              <a:gd name="connsiteY150" fmla="*/ 5729935 h 6858000"/>
              <a:gd name="connsiteX151" fmla="*/ 188428 w 5734864"/>
              <a:gd name="connsiteY151" fmla="*/ 5731182 h 6858000"/>
              <a:gd name="connsiteX152" fmla="*/ 181635 w 5734864"/>
              <a:gd name="connsiteY152" fmla="*/ 5753538 h 6858000"/>
              <a:gd name="connsiteX153" fmla="*/ 169744 w 5734864"/>
              <a:gd name="connsiteY153" fmla="*/ 5796307 h 6858000"/>
              <a:gd name="connsiteX154" fmla="*/ 170351 w 5734864"/>
              <a:gd name="connsiteY154" fmla="*/ 5796644 h 6858000"/>
              <a:gd name="connsiteX155" fmla="*/ 171559 w 5734864"/>
              <a:gd name="connsiteY155" fmla="*/ 5803435 h 6858000"/>
              <a:gd name="connsiteX156" fmla="*/ 172284 w 5734864"/>
              <a:gd name="connsiteY156" fmla="*/ 5816391 h 6858000"/>
              <a:gd name="connsiteX157" fmla="*/ 182542 w 5734864"/>
              <a:gd name="connsiteY157" fmla="*/ 5846382 h 6858000"/>
              <a:gd name="connsiteX158" fmla="*/ 175877 w 5734864"/>
              <a:gd name="connsiteY158" fmla="*/ 5871336 h 6858000"/>
              <a:gd name="connsiteX159" fmla="*/ 174910 w 5734864"/>
              <a:gd name="connsiteY159" fmla="*/ 5876376 h 6858000"/>
              <a:gd name="connsiteX160" fmla="*/ 175047 w 5734864"/>
              <a:gd name="connsiteY160" fmla="*/ 5876483 h 6858000"/>
              <a:gd name="connsiteX161" fmla="*/ 174335 w 5734864"/>
              <a:gd name="connsiteY161" fmla="*/ 5881814 h 6858000"/>
              <a:gd name="connsiteX162" fmla="*/ 171273 w 5734864"/>
              <a:gd name="connsiteY162" fmla="*/ 5895339 h 6858000"/>
              <a:gd name="connsiteX163" fmla="*/ 171658 w 5734864"/>
              <a:gd name="connsiteY163" fmla="*/ 5898749 h 6858000"/>
              <a:gd name="connsiteX164" fmla="*/ 174658 w 5734864"/>
              <a:gd name="connsiteY164" fmla="*/ 5919558 h 6858000"/>
              <a:gd name="connsiteX165" fmla="*/ 169099 w 5734864"/>
              <a:gd name="connsiteY165" fmla="*/ 5984417 h 6858000"/>
              <a:gd name="connsiteX166" fmla="*/ 162007 w 5734864"/>
              <a:gd name="connsiteY166" fmla="*/ 6049043 h 6858000"/>
              <a:gd name="connsiteX167" fmla="*/ 156875 w 5734864"/>
              <a:gd name="connsiteY167" fmla="*/ 6114000 h 6858000"/>
              <a:gd name="connsiteX168" fmla="*/ 165441 w 5734864"/>
              <a:gd name="connsiteY168" fmla="*/ 6146938 h 6858000"/>
              <a:gd name="connsiteX169" fmla="*/ 165177 w 5734864"/>
              <a:gd name="connsiteY169" fmla="*/ 6150658 h 6858000"/>
              <a:gd name="connsiteX170" fmla="*/ 161772 w 5734864"/>
              <a:gd name="connsiteY170" fmla="*/ 6160011 h 6858000"/>
              <a:gd name="connsiteX171" fmla="*/ 160051 w 5734864"/>
              <a:gd name="connsiteY171" fmla="*/ 6163393 h 6858000"/>
              <a:gd name="connsiteX172" fmla="*/ 158473 w 5734864"/>
              <a:gd name="connsiteY172" fmla="*/ 6168628 h 6858000"/>
              <a:gd name="connsiteX173" fmla="*/ 158573 w 5734864"/>
              <a:gd name="connsiteY173" fmla="*/ 6168799 h 6858000"/>
              <a:gd name="connsiteX174" fmla="*/ 146463 w 5734864"/>
              <a:gd name="connsiteY174" fmla="*/ 6196671 h 6858000"/>
              <a:gd name="connsiteX175" fmla="*/ 150209 w 5734864"/>
              <a:gd name="connsiteY175" fmla="*/ 6232365 h 6858000"/>
              <a:gd name="connsiteX176" fmla="*/ 148544 w 5734864"/>
              <a:gd name="connsiteY176" fmla="*/ 6246162 h 6858000"/>
              <a:gd name="connsiteX177" fmla="*/ 148403 w 5734864"/>
              <a:gd name="connsiteY177" fmla="*/ 6253754 h 6858000"/>
              <a:gd name="connsiteX178" fmla="*/ 138880 w 5734864"/>
              <a:gd name="connsiteY178" fmla="*/ 6276449 h 6858000"/>
              <a:gd name="connsiteX179" fmla="*/ 138683 w 5734864"/>
              <a:gd name="connsiteY179" fmla="*/ 6279721 h 6858000"/>
              <a:gd name="connsiteX180" fmla="*/ 130721 w 5734864"/>
              <a:gd name="connsiteY180" fmla="*/ 6293675 h 6858000"/>
              <a:gd name="connsiteX181" fmla="*/ 120717 w 5734864"/>
              <a:gd name="connsiteY181" fmla="*/ 6313967 h 6858000"/>
              <a:gd name="connsiteX182" fmla="*/ 120841 w 5734864"/>
              <a:gd name="connsiteY182" fmla="*/ 6315437 h 6858000"/>
              <a:gd name="connsiteX183" fmla="*/ 115208 w 5734864"/>
              <a:gd name="connsiteY183" fmla="*/ 6324024 h 6858000"/>
              <a:gd name="connsiteX184" fmla="*/ 101217 w 5734864"/>
              <a:gd name="connsiteY184" fmla="*/ 6365923 h 6858000"/>
              <a:gd name="connsiteX185" fmla="*/ 74946 w 5734864"/>
              <a:gd name="connsiteY185" fmla="*/ 6556817 h 6858000"/>
              <a:gd name="connsiteX186" fmla="*/ 16001 w 5734864"/>
              <a:gd name="connsiteY186" fmla="*/ 6808678 h 6858000"/>
              <a:gd name="connsiteX187" fmla="*/ 0 w 5734864"/>
              <a:gd name="connsiteY187" fmla="*/ 6858000 h 6858000"/>
              <a:gd name="connsiteX188" fmla="*/ 5734864 w 5734864"/>
              <a:gd name="connsiteY188" fmla="*/ 685800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4660 w 5734864"/>
              <a:gd name="connsiteY33" fmla="*/ 1982709 h 6858000"/>
              <a:gd name="connsiteX34" fmla="*/ 710759 w 5734864"/>
              <a:gd name="connsiteY34" fmla="*/ 2013010 h 6858000"/>
              <a:gd name="connsiteX35" fmla="*/ 697927 w 5734864"/>
              <a:gd name="connsiteY35" fmla="*/ 2069833 h 6858000"/>
              <a:gd name="connsiteX36" fmla="*/ 693594 w 5734864"/>
              <a:gd name="connsiteY36" fmla="*/ 2103731 h 6858000"/>
              <a:gd name="connsiteX37" fmla="*/ 691109 w 5734864"/>
              <a:gd name="connsiteY37" fmla="*/ 2124027 h 6858000"/>
              <a:gd name="connsiteX38" fmla="*/ 676593 w 5734864"/>
              <a:gd name="connsiteY38" fmla="*/ 2176182 h 6858000"/>
              <a:gd name="connsiteX39" fmla="*/ 633227 w 5734864"/>
              <a:gd name="connsiteY39" fmla="*/ 2258036 h 6858000"/>
              <a:gd name="connsiteX40" fmla="*/ 625564 w 5734864"/>
              <a:gd name="connsiteY40" fmla="*/ 2284567 h 6858000"/>
              <a:gd name="connsiteX41" fmla="*/ 627074 w 5734864"/>
              <a:gd name="connsiteY41" fmla="*/ 2289605 h 6858000"/>
              <a:gd name="connsiteX42" fmla="*/ 614574 w 5734864"/>
              <a:gd name="connsiteY42" fmla="*/ 2308717 h 6858000"/>
              <a:gd name="connsiteX43" fmla="*/ 606890 w 5734864"/>
              <a:gd name="connsiteY43" fmla="*/ 2320662 h 6858000"/>
              <a:gd name="connsiteX44" fmla="*/ 605558 w 5734864"/>
              <a:gd name="connsiteY44" fmla="*/ 2327897 h 6858000"/>
              <a:gd name="connsiteX45" fmla="*/ 602202 w 5734864"/>
              <a:gd name="connsiteY45" fmla="*/ 2357749 h 6858000"/>
              <a:gd name="connsiteX46" fmla="*/ 600213 w 5734864"/>
              <a:gd name="connsiteY46" fmla="*/ 2364905 h 6858000"/>
              <a:gd name="connsiteX47" fmla="*/ 597160 w 5734864"/>
              <a:gd name="connsiteY47" fmla="*/ 2388351 h 6858000"/>
              <a:gd name="connsiteX48" fmla="*/ 597982 w 5734864"/>
              <a:gd name="connsiteY48" fmla="*/ 2402296 h 6858000"/>
              <a:gd name="connsiteX49" fmla="*/ 593150 w 5734864"/>
              <a:gd name="connsiteY49" fmla="*/ 2420015 h 6858000"/>
              <a:gd name="connsiteX50" fmla="*/ 592833 w 5734864"/>
              <a:gd name="connsiteY50" fmla="*/ 2422749 h 6858000"/>
              <a:gd name="connsiteX51" fmla="*/ 594479 w 5734864"/>
              <a:gd name="connsiteY51" fmla="*/ 2426002 h 6858000"/>
              <a:gd name="connsiteX52" fmla="*/ 591963 w 5734864"/>
              <a:gd name="connsiteY52" fmla="*/ 2431950 h 6858000"/>
              <a:gd name="connsiteX53" fmla="*/ 591544 w 5734864"/>
              <a:gd name="connsiteY53" fmla="*/ 2433897 h 6858000"/>
              <a:gd name="connsiteX54" fmla="*/ 589519 w 5734864"/>
              <a:gd name="connsiteY54" fmla="*/ 2451398 h 6858000"/>
              <a:gd name="connsiteX55" fmla="*/ 590037 w 5734864"/>
              <a:gd name="connsiteY55" fmla="*/ 2455536 h 6858000"/>
              <a:gd name="connsiteX56" fmla="*/ 588179 w 5734864"/>
              <a:gd name="connsiteY56" fmla="*/ 2462981 h 6858000"/>
              <a:gd name="connsiteX57" fmla="*/ 583434 w 5734864"/>
              <a:gd name="connsiteY57" fmla="*/ 2503991 h 6858000"/>
              <a:gd name="connsiteX58" fmla="*/ 567942 w 5734864"/>
              <a:gd name="connsiteY58" fmla="*/ 2652936 h 6858000"/>
              <a:gd name="connsiteX59" fmla="*/ 573869 w 5734864"/>
              <a:gd name="connsiteY59" fmla="*/ 2670188 h 6858000"/>
              <a:gd name="connsiteX60" fmla="*/ 575243 w 5734864"/>
              <a:gd name="connsiteY60" fmla="*/ 2688114 h 6858000"/>
              <a:gd name="connsiteX61" fmla="*/ 573824 w 5734864"/>
              <a:gd name="connsiteY61" fmla="*/ 2689856 h 6858000"/>
              <a:gd name="connsiteX62" fmla="*/ 570699 w 5734864"/>
              <a:gd name="connsiteY62" fmla="*/ 2709353 h 6858000"/>
              <a:gd name="connsiteX63" fmla="*/ 573192 w 5734864"/>
              <a:gd name="connsiteY63" fmla="*/ 2714527 h 6858000"/>
              <a:gd name="connsiteX64" fmla="*/ 572044 w 5734864"/>
              <a:gd name="connsiteY64" fmla="*/ 2728187 h 6858000"/>
              <a:gd name="connsiteX65" fmla="*/ 572465 w 5734864"/>
              <a:gd name="connsiteY65" fmla="*/ 2755863 h 6858000"/>
              <a:gd name="connsiteX66" fmla="*/ 570028 w 5734864"/>
              <a:gd name="connsiteY66" fmla="*/ 2760324 h 6858000"/>
              <a:gd name="connsiteX67" fmla="*/ 566748 w 5734864"/>
              <a:gd name="connsiteY67" fmla="*/ 2800948 h 6858000"/>
              <a:gd name="connsiteX68" fmla="*/ 565509 w 5734864"/>
              <a:gd name="connsiteY68" fmla="*/ 2801167 h 6858000"/>
              <a:gd name="connsiteX69" fmla="*/ 559367 w 5734864"/>
              <a:gd name="connsiteY69" fmla="*/ 2811129 h 6858000"/>
              <a:gd name="connsiteX70" fmla="*/ 550354 w 5734864"/>
              <a:gd name="connsiteY70" fmla="*/ 2830949 h 6858000"/>
              <a:gd name="connsiteX71" fmla="*/ 514795 w 5734864"/>
              <a:gd name="connsiteY71" fmla="*/ 2872433 h 6858000"/>
              <a:gd name="connsiteX72" fmla="*/ 509875 w 5734864"/>
              <a:gd name="connsiteY72" fmla="*/ 2923099 h 6858000"/>
              <a:gd name="connsiteX73" fmla="*/ 509577 w 5734864"/>
              <a:gd name="connsiteY73" fmla="*/ 2923197 h 6858000"/>
              <a:gd name="connsiteX74" fmla="*/ 507597 w 5734864"/>
              <a:gd name="connsiteY74" fmla="*/ 2931868 h 6858000"/>
              <a:gd name="connsiteX75" fmla="*/ 507379 w 5734864"/>
              <a:gd name="connsiteY75" fmla="*/ 2938322 h 6858000"/>
              <a:gd name="connsiteX76" fmla="*/ 504725 w 5734864"/>
              <a:gd name="connsiteY76" fmla="*/ 2954519 h 6858000"/>
              <a:gd name="connsiteX77" fmla="*/ 502018 w 5734864"/>
              <a:gd name="connsiteY77" fmla="*/ 2959643 h 6858000"/>
              <a:gd name="connsiteX78" fmla="*/ 498360 w 5734864"/>
              <a:gd name="connsiteY78" fmla="*/ 2961019 h 6858000"/>
              <a:gd name="connsiteX79" fmla="*/ 498483 w 5734864"/>
              <a:gd name="connsiteY79" fmla="*/ 2962590 h 6858000"/>
              <a:gd name="connsiteX80" fmla="*/ 484403 w 5734864"/>
              <a:gd name="connsiteY80" fmla="*/ 2990538 h 6858000"/>
              <a:gd name="connsiteX81" fmla="*/ 463075 w 5734864"/>
              <a:gd name="connsiteY81" fmla="*/ 3055956 h 6858000"/>
              <a:gd name="connsiteX82" fmla="*/ 455013 w 5734864"/>
              <a:gd name="connsiteY82" fmla="*/ 3094482 h 6858000"/>
              <a:gd name="connsiteX83" fmla="*/ 428391 w 5734864"/>
              <a:gd name="connsiteY83" fmla="*/ 3198850 h 6858000"/>
              <a:gd name="connsiteX84" fmla="*/ 401440 w 5734864"/>
              <a:gd name="connsiteY84" fmla="*/ 3307560 h 6858000"/>
              <a:gd name="connsiteX85" fmla="*/ 386076 w 5734864"/>
              <a:gd name="connsiteY85" fmla="*/ 3373943 h 6858000"/>
              <a:gd name="connsiteX86" fmla="*/ 374726 w 5734864"/>
              <a:gd name="connsiteY86" fmla="*/ 3381364 h 6858000"/>
              <a:gd name="connsiteX87" fmla="*/ 369145 w 5734864"/>
              <a:gd name="connsiteY87" fmla="*/ 3383729 h 6858000"/>
              <a:gd name="connsiteX88" fmla="*/ 364294 w 5734864"/>
              <a:gd name="connsiteY88" fmla="*/ 3414159 h 6858000"/>
              <a:gd name="connsiteX89" fmla="*/ 366450 w 5734864"/>
              <a:gd name="connsiteY89" fmla="*/ 3436925 h 6858000"/>
              <a:gd name="connsiteX90" fmla="*/ 351743 w 5734864"/>
              <a:gd name="connsiteY90" fmla="*/ 3521619 h 6858000"/>
              <a:gd name="connsiteX91" fmla="*/ 345784 w 5734864"/>
              <a:gd name="connsiteY91" fmla="*/ 3603757 h 6858000"/>
              <a:gd name="connsiteX92" fmla="*/ 344198 w 5734864"/>
              <a:gd name="connsiteY92" fmla="*/ 3652424 h 6858000"/>
              <a:gd name="connsiteX93" fmla="*/ 352450 w 5734864"/>
              <a:gd name="connsiteY93" fmla="*/ 3665222 h 6858000"/>
              <a:gd name="connsiteX94" fmla="*/ 342621 w 5734864"/>
              <a:gd name="connsiteY94" fmla="*/ 3700804 h 6858000"/>
              <a:gd name="connsiteX95" fmla="*/ 341514 w 5734864"/>
              <a:gd name="connsiteY95" fmla="*/ 3734774 h 6858000"/>
              <a:gd name="connsiteX96" fmla="*/ 340607 w 5734864"/>
              <a:gd name="connsiteY96" fmla="*/ 3785153 h 6858000"/>
              <a:gd name="connsiteX97" fmla="*/ 340707 w 5734864"/>
              <a:gd name="connsiteY97" fmla="*/ 3788177 h 6858000"/>
              <a:gd name="connsiteX98" fmla="*/ 340361 w 5734864"/>
              <a:gd name="connsiteY98" fmla="*/ 3798803 h 6858000"/>
              <a:gd name="connsiteX99" fmla="*/ 339642 w 5734864"/>
              <a:gd name="connsiteY99" fmla="*/ 3838750 h 6858000"/>
              <a:gd name="connsiteX100" fmla="*/ 360295 w 5734864"/>
              <a:gd name="connsiteY100" fmla="*/ 4015196 h 6858000"/>
              <a:gd name="connsiteX101" fmla="*/ 339043 w 5734864"/>
              <a:gd name="connsiteY101" fmla="*/ 4052778 h 6858000"/>
              <a:gd name="connsiteX102" fmla="*/ 339343 w 5734864"/>
              <a:gd name="connsiteY102" fmla="*/ 4096257 h 6858000"/>
              <a:gd name="connsiteX103" fmla="*/ 340786 w 5734864"/>
              <a:gd name="connsiteY103" fmla="*/ 4321136 h 6858000"/>
              <a:gd name="connsiteX104" fmla="*/ 343158 w 5734864"/>
              <a:gd name="connsiteY104" fmla="*/ 4429174 h 6858000"/>
              <a:gd name="connsiteX105" fmla="*/ 334599 w 5734864"/>
              <a:gd name="connsiteY105" fmla="*/ 4449938 h 6858000"/>
              <a:gd name="connsiteX106" fmla="*/ 332890 w 5734864"/>
              <a:gd name="connsiteY106" fmla="*/ 4453515 h 6858000"/>
              <a:gd name="connsiteX107" fmla="*/ 331105 w 5734864"/>
              <a:gd name="connsiteY107" fmla="*/ 4467941 h 6858000"/>
              <a:gd name="connsiteX108" fmla="*/ 324289 w 5734864"/>
              <a:gd name="connsiteY108" fmla="*/ 4471861 h 6858000"/>
              <a:gd name="connsiteX109" fmla="*/ 317079 w 5734864"/>
              <a:gd name="connsiteY109" fmla="*/ 4493468 h 6858000"/>
              <a:gd name="connsiteX110" fmla="*/ 315557 w 5734864"/>
              <a:gd name="connsiteY110" fmla="*/ 4520067 h 6858000"/>
              <a:gd name="connsiteX111" fmla="*/ 315240 w 5734864"/>
              <a:gd name="connsiteY111" fmla="*/ 4536872 h 6858000"/>
              <a:gd name="connsiteX112" fmla="*/ 316200 w 5734864"/>
              <a:gd name="connsiteY112" fmla="*/ 4538297 h 6858000"/>
              <a:gd name="connsiteX113" fmla="*/ 317507 w 5734864"/>
              <a:gd name="connsiteY113" fmla="*/ 4547582 h 6858000"/>
              <a:gd name="connsiteX114" fmla="*/ 323078 w 5734864"/>
              <a:gd name="connsiteY114" fmla="*/ 4592102 h 6858000"/>
              <a:gd name="connsiteX115" fmla="*/ 328722 w 5734864"/>
              <a:gd name="connsiteY115" fmla="*/ 4667914 h 6858000"/>
              <a:gd name="connsiteX116" fmla="*/ 335597 w 5734864"/>
              <a:gd name="connsiteY116" fmla="*/ 4695035 h 6858000"/>
              <a:gd name="connsiteX117" fmla="*/ 339485 w 5734864"/>
              <a:gd name="connsiteY117" fmla="*/ 4695979 h 6858000"/>
              <a:gd name="connsiteX118" fmla="*/ 341089 w 5734864"/>
              <a:gd name="connsiteY118" fmla="*/ 4704268 h 6858000"/>
              <a:gd name="connsiteX119" fmla="*/ 342177 w 5734864"/>
              <a:gd name="connsiteY119" fmla="*/ 4706060 h 6858000"/>
              <a:gd name="connsiteX120" fmla="*/ 347751 w 5734864"/>
              <a:gd name="connsiteY120" fmla="*/ 4716754 h 6858000"/>
              <a:gd name="connsiteX121" fmla="*/ 344125 w 5734864"/>
              <a:gd name="connsiteY121" fmla="*/ 4764669 h 6858000"/>
              <a:gd name="connsiteX122" fmla="*/ 340188 w 5734864"/>
              <a:gd name="connsiteY122" fmla="*/ 4779386 h 6858000"/>
              <a:gd name="connsiteX123" fmla="*/ 335146 w 5734864"/>
              <a:gd name="connsiteY123" fmla="*/ 4787491 h 6858000"/>
              <a:gd name="connsiteX124" fmla="*/ 319124 w 5734864"/>
              <a:gd name="connsiteY124" fmla="*/ 4843514 h 6858000"/>
              <a:gd name="connsiteX125" fmla="*/ 305956 w 5734864"/>
              <a:gd name="connsiteY125" fmla="*/ 4881505 h 6858000"/>
              <a:gd name="connsiteX126" fmla="*/ 301062 w 5734864"/>
              <a:gd name="connsiteY126" fmla="*/ 4889332 h 6858000"/>
              <a:gd name="connsiteX127" fmla="*/ 302141 w 5734864"/>
              <a:gd name="connsiteY127" fmla="*/ 4899400 h 6858000"/>
              <a:gd name="connsiteX128" fmla="*/ 304424 w 5734864"/>
              <a:gd name="connsiteY128" fmla="*/ 4902664 h 6858000"/>
              <a:gd name="connsiteX129" fmla="*/ 293123 w 5734864"/>
              <a:gd name="connsiteY129" fmla="*/ 4932769 h 6858000"/>
              <a:gd name="connsiteX130" fmla="*/ 292275 w 5734864"/>
              <a:gd name="connsiteY130" fmla="*/ 4936482 h 6858000"/>
              <a:gd name="connsiteX131" fmla="*/ 288304 w 5734864"/>
              <a:gd name="connsiteY131" fmla="*/ 4962325 h 6858000"/>
              <a:gd name="connsiteX132" fmla="*/ 287420 w 5734864"/>
              <a:gd name="connsiteY132" fmla="*/ 5042193 h 6858000"/>
              <a:gd name="connsiteX133" fmla="*/ 287020 w 5734864"/>
              <a:gd name="connsiteY133" fmla="*/ 5065655 h 6858000"/>
              <a:gd name="connsiteX134" fmla="*/ 288488 w 5734864"/>
              <a:gd name="connsiteY134" fmla="*/ 5082216 h 6858000"/>
              <a:gd name="connsiteX135" fmla="*/ 282763 w 5734864"/>
              <a:gd name="connsiteY135" fmla="*/ 5127114 h 6858000"/>
              <a:gd name="connsiteX136" fmla="*/ 269316 w 5734864"/>
              <a:gd name="connsiteY136" fmla="*/ 5202682 h 6858000"/>
              <a:gd name="connsiteX137" fmla="*/ 269174 w 5734864"/>
              <a:gd name="connsiteY137" fmla="*/ 5230835 h 6858000"/>
              <a:gd name="connsiteX138" fmla="*/ 272679 w 5734864"/>
              <a:gd name="connsiteY138" fmla="*/ 5232660 h 6858000"/>
              <a:gd name="connsiteX139" fmla="*/ 272160 w 5734864"/>
              <a:gd name="connsiteY139" fmla="*/ 5241150 h 6858000"/>
              <a:gd name="connsiteX140" fmla="*/ 272760 w 5734864"/>
              <a:gd name="connsiteY140" fmla="*/ 5243156 h 6858000"/>
              <a:gd name="connsiteX141" fmla="*/ 275462 w 5734864"/>
              <a:gd name="connsiteY141" fmla="*/ 5254919 h 6858000"/>
              <a:gd name="connsiteX142" fmla="*/ 262897 w 5734864"/>
              <a:gd name="connsiteY142" fmla="*/ 5286259 h 6858000"/>
              <a:gd name="connsiteX143" fmla="*/ 252761 w 5734864"/>
              <a:gd name="connsiteY143" fmla="*/ 5357801 h 6858000"/>
              <a:gd name="connsiteX144" fmla="*/ 242360 w 5734864"/>
              <a:gd name="connsiteY144" fmla="*/ 5460080 h 6858000"/>
              <a:gd name="connsiteX145" fmla="*/ 229880 w 5734864"/>
              <a:gd name="connsiteY145" fmla="*/ 5539714 h 6858000"/>
              <a:gd name="connsiteX146" fmla="*/ 204283 w 5734864"/>
              <a:gd name="connsiteY146" fmla="*/ 5639080 h 6858000"/>
              <a:gd name="connsiteX147" fmla="*/ 198948 w 5734864"/>
              <a:gd name="connsiteY147" fmla="*/ 5710958 h 6858000"/>
              <a:gd name="connsiteX148" fmla="*/ 192367 w 5734864"/>
              <a:gd name="connsiteY148" fmla="*/ 5719859 h 6858000"/>
              <a:gd name="connsiteX149" fmla="*/ 188035 w 5734864"/>
              <a:gd name="connsiteY149" fmla="*/ 5729935 h 6858000"/>
              <a:gd name="connsiteX150" fmla="*/ 188428 w 5734864"/>
              <a:gd name="connsiteY150" fmla="*/ 5731182 h 6858000"/>
              <a:gd name="connsiteX151" fmla="*/ 181635 w 5734864"/>
              <a:gd name="connsiteY151" fmla="*/ 5753538 h 6858000"/>
              <a:gd name="connsiteX152" fmla="*/ 169744 w 5734864"/>
              <a:gd name="connsiteY152" fmla="*/ 5796307 h 6858000"/>
              <a:gd name="connsiteX153" fmla="*/ 170351 w 5734864"/>
              <a:gd name="connsiteY153" fmla="*/ 5796644 h 6858000"/>
              <a:gd name="connsiteX154" fmla="*/ 171559 w 5734864"/>
              <a:gd name="connsiteY154" fmla="*/ 5803435 h 6858000"/>
              <a:gd name="connsiteX155" fmla="*/ 172284 w 5734864"/>
              <a:gd name="connsiteY155" fmla="*/ 5816391 h 6858000"/>
              <a:gd name="connsiteX156" fmla="*/ 182542 w 5734864"/>
              <a:gd name="connsiteY156" fmla="*/ 5846382 h 6858000"/>
              <a:gd name="connsiteX157" fmla="*/ 175877 w 5734864"/>
              <a:gd name="connsiteY157" fmla="*/ 5871336 h 6858000"/>
              <a:gd name="connsiteX158" fmla="*/ 174910 w 5734864"/>
              <a:gd name="connsiteY158" fmla="*/ 5876376 h 6858000"/>
              <a:gd name="connsiteX159" fmla="*/ 175047 w 5734864"/>
              <a:gd name="connsiteY159" fmla="*/ 5876483 h 6858000"/>
              <a:gd name="connsiteX160" fmla="*/ 174335 w 5734864"/>
              <a:gd name="connsiteY160" fmla="*/ 5881814 h 6858000"/>
              <a:gd name="connsiteX161" fmla="*/ 171273 w 5734864"/>
              <a:gd name="connsiteY161" fmla="*/ 5895339 h 6858000"/>
              <a:gd name="connsiteX162" fmla="*/ 171658 w 5734864"/>
              <a:gd name="connsiteY162" fmla="*/ 5898749 h 6858000"/>
              <a:gd name="connsiteX163" fmla="*/ 174658 w 5734864"/>
              <a:gd name="connsiteY163" fmla="*/ 5919558 h 6858000"/>
              <a:gd name="connsiteX164" fmla="*/ 169099 w 5734864"/>
              <a:gd name="connsiteY164" fmla="*/ 5984417 h 6858000"/>
              <a:gd name="connsiteX165" fmla="*/ 162007 w 5734864"/>
              <a:gd name="connsiteY165" fmla="*/ 6049043 h 6858000"/>
              <a:gd name="connsiteX166" fmla="*/ 156875 w 5734864"/>
              <a:gd name="connsiteY166" fmla="*/ 6114000 h 6858000"/>
              <a:gd name="connsiteX167" fmla="*/ 165441 w 5734864"/>
              <a:gd name="connsiteY167" fmla="*/ 6146938 h 6858000"/>
              <a:gd name="connsiteX168" fmla="*/ 165177 w 5734864"/>
              <a:gd name="connsiteY168" fmla="*/ 6150658 h 6858000"/>
              <a:gd name="connsiteX169" fmla="*/ 161772 w 5734864"/>
              <a:gd name="connsiteY169" fmla="*/ 6160011 h 6858000"/>
              <a:gd name="connsiteX170" fmla="*/ 160051 w 5734864"/>
              <a:gd name="connsiteY170" fmla="*/ 6163393 h 6858000"/>
              <a:gd name="connsiteX171" fmla="*/ 158473 w 5734864"/>
              <a:gd name="connsiteY171" fmla="*/ 6168628 h 6858000"/>
              <a:gd name="connsiteX172" fmla="*/ 158573 w 5734864"/>
              <a:gd name="connsiteY172" fmla="*/ 6168799 h 6858000"/>
              <a:gd name="connsiteX173" fmla="*/ 146463 w 5734864"/>
              <a:gd name="connsiteY173" fmla="*/ 6196671 h 6858000"/>
              <a:gd name="connsiteX174" fmla="*/ 150209 w 5734864"/>
              <a:gd name="connsiteY174" fmla="*/ 6232365 h 6858000"/>
              <a:gd name="connsiteX175" fmla="*/ 148544 w 5734864"/>
              <a:gd name="connsiteY175" fmla="*/ 6246162 h 6858000"/>
              <a:gd name="connsiteX176" fmla="*/ 148403 w 5734864"/>
              <a:gd name="connsiteY176" fmla="*/ 6253754 h 6858000"/>
              <a:gd name="connsiteX177" fmla="*/ 138880 w 5734864"/>
              <a:gd name="connsiteY177" fmla="*/ 6276449 h 6858000"/>
              <a:gd name="connsiteX178" fmla="*/ 138683 w 5734864"/>
              <a:gd name="connsiteY178" fmla="*/ 6279721 h 6858000"/>
              <a:gd name="connsiteX179" fmla="*/ 130721 w 5734864"/>
              <a:gd name="connsiteY179" fmla="*/ 6293675 h 6858000"/>
              <a:gd name="connsiteX180" fmla="*/ 120717 w 5734864"/>
              <a:gd name="connsiteY180" fmla="*/ 6313967 h 6858000"/>
              <a:gd name="connsiteX181" fmla="*/ 120841 w 5734864"/>
              <a:gd name="connsiteY181" fmla="*/ 6315437 h 6858000"/>
              <a:gd name="connsiteX182" fmla="*/ 115208 w 5734864"/>
              <a:gd name="connsiteY182" fmla="*/ 6324024 h 6858000"/>
              <a:gd name="connsiteX183" fmla="*/ 101217 w 5734864"/>
              <a:gd name="connsiteY183" fmla="*/ 6365923 h 6858000"/>
              <a:gd name="connsiteX184" fmla="*/ 74946 w 5734864"/>
              <a:gd name="connsiteY184" fmla="*/ 6556817 h 6858000"/>
              <a:gd name="connsiteX185" fmla="*/ 16001 w 5734864"/>
              <a:gd name="connsiteY185" fmla="*/ 6808678 h 6858000"/>
              <a:gd name="connsiteX186" fmla="*/ 0 w 5734864"/>
              <a:gd name="connsiteY186" fmla="*/ 6858000 h 6858000"/>
              <a:gd name="connsiteX187" fmla="*/ 5734864 w 5734864"/>
              <a:gd name="connsiteY187" fmla="*/ 6858000 h 6858000"/>
              <a:gd name="connsiteX188" fmla="*/ 5734864 w 5734864"/>
              <a:gd name="connsiteY188" fmla="*/ 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7865 w 5734864"/>
              <a:gd name="connsiteY13" fmla="*/ 1070795 h 6858000"/>
              <a:gd name="connsiteX14" fmla="*/ 862786 w 5734864"/>
              <a:gd name="connsiteY14" fmla="*/ 1238994 h 6858000"/>
              <a:gd name="connsiteX15" fmla="*/ 859345 w 5734864"/>
              <a:gd name="connsiteY15" fmla="*/ 1380427 h 6858000"/>
              <a:gd name="connsiteX16" fmla="*/ 855172 w 5734864"/>
              <a:gd name="connsiteY16" fmla="*/ 1435262 h 6858000"/>
              <a:gd name="connsiteX17" fmla="*/ 860494 w 5734864"/>
              <a:gd name="connsiteY17" fmla="*/ 1453861 h 6858000"/>
              <a:gd name="connsiteX18" fmla="*/ 853731 w 5734864"/>
              <a:gd name="connsiteY18" fmla="*/ 1467047 h 6858000"/>
              <a:gd name="connsiteX19" fmla="*/ 845847 w 5734864"/>
              <a:gd name="connsiteY19" fmla="*/ 1502307 h 6858000"/>
              <a:gd name="connsiteX20" fmla="*/ 817613 w 5734864"/>
              <a:gd name="connsiteY20" fmla="*/ 1565166 h 6858000"/>
              <a:gd name="connsiteX21" fmla="*/ 804223 w 5734864"/>
              <a:gd name="connsiteY21" fmla="*/ 1601941 h 6858000"/>
              <a:gd name="connsiteX22" fmla="*/ 791773 w 5734864"/>
              <a:gd name="connsiteY22" fmla="*/ 1627005 h 6858000"/>
              <a:gd name="connsiteX23" fmla="*/ 774645 w 5734864"/>
              <a:gd name="connsiteY23" fmla="*/ 1699922 h 6858000"/>
              <a:gd name="connsiteX24" fmla="*/ 752343 w 5734864"/>
              <a:gd name="connsiteY24" fmla="*/ 1824604 h 6858000"/>
              <a:gd name="connsiteX25" fmla="*/ 746254 w 5734864"/>
              <a:gd name="connsiteY25" fmla="*/ 1850222 h 6858000"/>
              <a:gd name="connsiteX26" fmla="*/ 728600 w 5734864"/>
              <a:gd name="connsiteY26" fmla="*/ 1869603 h 6858000"/>
              <a:gd name="connsiteX27" fmla="*/ 724396 w 5734864"/>
              <a:gd name="connsiteY27" fmla="*/ 1883104 h 6858000"/>
              <a:gd name="connsiteX28" fmla="*/ 722165 w 5734864"/>
              <a:gd name="connsiteY28" fmla="*/ 1885924 h 6858000"/>
              <a:gd name="connsiteX29" fmla="*/ 721338 w 5734864"/>
              <a:gd name="connsiteY29" fmla="*/ 1887123 h 6858000"/>
              <a:gd name="connsiteX30" fmla="*/ 714840 w 5734864"/>
              <a:gd name="connsiteY30" fmla="*/ 1902274 h 6858000"/>
              <a:gd name="connsiteX31" fmla="*/ 722847 w 5734864"/>
              <a:gd name="connsiteY31" fmla="*/ 1929891 h 6858000"/>
              <a:gd name="connsiteX32" fmla="*/ 714660 w 5734864"/>
              <a:gd name="connsiteY32" fmla="*/ 1982709 h 6858000"/>
              <a:gd name="connsiteX33" fmla="*/ 710759 w 5734864"/>
              <a:gd name="connsiteY33" fmla="*/ 2013010 h 6858000"/>
              <a:gd name="connsiteX34" fmla="*/ 697927 w 5734864"/>
              <a:gd name="connsiteY34" fmla="*/ 2069833 h 6858000"/>
              <a:gd name="connsiteX35" fmla="*/ 693594 w 5734864"/>
              <a:gd name="connsiteY35" fmla="*/ 2103731 h 6858000"/>
              <a:gd name="connsiteX36" fmla="*/ 691109 w 5734864"/>
              <a:gd name="connsiteY36" fmla="*/ 2124027 h 6858000"/>
              <a:gd name="connsiteX37" fmla="*/ 676593 w 5734864"/>
              <a:gd name="connsiteY37" fmla="*/ 2176182 h 6858000"/>
              <a:gd name="connsiteX38" fmla="*/ 633227 w 5734864"/>
              <a:gd name="connsiteY38" fmla="*/ 2258036 h 6858000"/>
              <a:gd name="connsiteX39" fmla="*/ 625564 w 5734864"/>
              <a:gd name="connsiteY39" fmla="*/ 2284567 h 6858000"/>
              <a:gd name="connsiteX40" fmla="*/ 627074 w 5734864"/>
              <a:gd name="connsiteY40" fmla="*/ 2289605 h 6858000"/>
              <a:gd name="connsiteX41" fmla="*/ 614574 w 5734864"/>
              <a:gd name="connsiteY41" fmla="*/ 2308717 h 6858000"/>
              <a:gd name="connsiteX42" fmla="*/ 606890 w 5734864"/>
              <a:gd name="connsiteY42" fmla="*/ 2320662 h 6858000"/>
              <a:gd name="connsiteX43" fmla="*/ 605558 w 5734864"/>
              <a:gd name="connsiteY43" fmla="*/ 2327897 h 6858000"/>
              <a:gd name="connsiteX44" fmla="*/ 602202 w 5734864"/>
              <a:gd name="connsiteY44" fmla="*/ 2357749 h 6858000"/>
              <a:gd name="connsiteX45" fmla="*/ 600213 w 5734864"/>
              <a:gd name="connsiteY45" fmla="*/ 2364905 h 6858000"/>
              <a:gd name="connsiteX46" fmla="*/ 597160 w 5734864"/>
              <a:gd name="connsiteY46" fmla="*/ 2388351 h 6858000"/>
              <a:gd name="connsiteX47" fmla="*/ 597982 w 5734864"/>
              <a:gd name="connsiteY47" fmla="*/ 2402296 h 6858000"/>
              <a:gd name="connsiteX48" fmla="*/ 593150 w 5734864"/>
              <a:gd name="connsiteY48" fmla="*/ 2420015 h 6858000"/>
              <a:gd name="connsiteX49" fmla="*/ 592833 w 5734864"/>
              <a:gd name="connsiteY49" fmla="*/ 2422749 h 6858000"/>
              <a:gd name="connsiteX50" fmla="*/ 594479 w 5734864"/>
              <a:gd name="connsiteY50" fmla="*/ 2426002 h 6858000"/>
              <a:gd name="connsiteX51" fmla="*/ 591963 w 5734864"/>
              <a:gd name="connsiteY51" fmla="*/ 2431950 h 6858000"/>
              <a:gd name="connsiteX52" fmla="*/ 591544 w 5734864"/>
              <a:gd name="connsiteY52" fmla="*/ 2433897 h 6858000"/>
              <a:gd name="connsiteX53" fmla="*/ 589519 w 5734864"/>
              <a:gd name="connsiteY53" fmla="*/ 2451398 h 6858000"/>
              <a:gd name="connsiteX54" fmla="*/ 590037 w 5734864"/>
              <a:gd name="connsiteY54" fmla="*/ 2455536 h 6858000"/>
              <a:gd name="connsiteX55" fmla="*/ 588179 w 5734864"/>
              <a:gd name="connsiteY55" fmla="*/ 2462981 h 6858000"/>
              <a:gd name="connsiteX56" fmla="*/ 583434 w 5734864"/>
              <a:gd name="connsiteY56" fmla="*/ 2503991 h 6858000"/>
              <a:gd name="connsiteX57" fmla="*/ 567942 w 5734864"/>
              <a:gd name="connsiteY57" fmla="*/ 2652936 h 6858000"/>
              <a:gd name="connsiteX58" fmla="*/ 573869 w 5734864"/>
              <a:gd name="connsiteY58" fmla="*/ 2670188 h 6858000"/>
              <a:gd name="connsiteX59" fmla="*/ 575243 w 5734864"/>
              <a:gd name="connsiteY59" fmla="*/ 2688114 h 6858000"/>
              <a:gd name="connsiteX60" fmla="*/ 573824 w 5734864"/>
              <a:gd name="connsiteY60" fmla="*/ 2689856 h 6858000"/>
              <a:gd name="connsiteX61" fmla="*/ 570699 w 5734864"/>
              <a:gd name="connsiteY61" fmla="*/ 2709353 h 6858000"/>
              <a:gd name="connsiteX62" fmla="*/ 573192 w 5734864"/>
              <a:gd name="connsiteY62" fmla="*/ 2714527 h 6858000"/>
              <a:gd name="connsiteX63" fmla="*/ 572044 w 5734864"/>
              <a:gd name="connsiteY63" fmla="*/ 2728187 h 6858000"/>
              <a:gd name="connsiteX64" fmla="*/ 572465 w 5734864"/>
              <a:gd name="connsiteY64" fmla="*/ 2755863 h 6858000"/>
              <a:gd name="connsiteX65" fmla="*/ 570028 w 5734864"/>
              <a:gd name="connsiteY65" fmla="*/ 2760324 h 6858000"/>
              <a:gd name="connsiteX66" fmla="*/ 566748 w 5734864"/>
              <a:gd name="connsiteY66" fmla="*/ 2800948 h 6858000"/>
              <a:gd name="connsiteX67" fmla="*/ 565509 w 5734864"/>
              <a:gd name="connsiteY67" fmla="*/ 2801167 h 6858000"/>
              <a:gd name="connsiteX68" fmla="*/ 559367 w 5734864"/>
              <a:gd name="connsiteY68" fmla="*/ 2811129 h 6858000"/>
              <a:gd name="connsiteX69" fmla="*/ 550354 w 5734864"/>
              <a:gd name="connsiteY69" fmla="*/ 2830949 h 6858000"/>
              <a:gd name="connsiteX70" fmla="*/ 514795 w 5734864"/>
              <a:gd name="connsiteY70" fmla="*/ 2872433 h 6858000"/>
              <a:gd name="connsiteX71" fmla="*/ 509875 w 5734864"/>
              <a:gd name="connsiteY71" fmla="*/ 2923099 h 6858000"/>
              <a:gd name="connsiteX72" fmla="*/ 509577 w 5734864"/>
              <a:gd name="connsiteY72" fmla="*/ 2923197 h 6858000"/>
              <a:gd name="connsiteX73" fmla="*/ 507597 w 5734864"/>
              <a:gd name="connsiteY73" fmla="*/ 2931868 h 6858000"/>
              <a:gd name="connsiteX74" fmla="*/ 507379 w 5734864"/>
              <a:gd name="connsiteY74" fmla="*/ 2938322 h 6858000"/>
              <a:gd name="connsiteX75" fmla="*/ 504725 w 5734864"/>
              <a:gd name="connsiteY75" fmla="*/ 2954519 h 6858000"/>
              <a:gd name="connsiteX76" fmla="*/ 502018 w 5734864"/>
              <a:gd name="connsiteY76" fmla="*/ 2959643 h 6858000"/>
              <a:gd name="connsiteX77" fmla="*/ 498360 w 5734864"/>
              <a:gd name="connsiteY77" fmla="*/ 2961019 h 6858000"/>
              <a:gd name="connsiteX78" fmla="*/ 498483 w 5734864"/>
              <a:gd name="connsiteY78" fmla="*/ 2962590 h 6858000"/>
              <a:gd name="connsiteX79" fmla="*/ 484403 w 5734864"/>
              <a:gd name="connsiteY79" fmla="*/ 2990538 h 6858000"/>
              <a:gd name="connsiteX80" fmla="*/ 463075 w 5734864"/>
              <a:gd name="connsiteY80" fmla="*/ 3055956 h 6858000"/>
              <a:gd name="connsiteX81" fmla="*/ 455013 w 5734864"/>
              <a:gd name="connsiteY81" fmla="*/ 3094482 h 6858000"/>
              <a:gd name="connsiteX82" fmla="*/ 428391 w 5734864"/>
              <a:gd name="connsiteY82" fmla="*/ 3198850 h 6858000"/>
              <a:gd name="connsiteX83" fmla="*/ 401440 w 5734864"/>
              <a:gd name="connsiteY83" fmla="*/ 3307560 h 6858000"/>
              <a:gd name="connsiteX84" fmla="*/ 386076 w 5734864"/>
              <a:gd name="connsiteY84" fmla="*/ 3373943 h 6858000"/>
              <a:gd name="connsiteX85" fmla="*/ 374726 w 5734864"/>
              <a:gd name="connsiteY85" fmla="*/ 3381364 h 6858000"/>
              <a:gd name="connsiteX86" fmla="*/ 369145 w 5734864"/>
              <a:gd name="connsiteY86" fmla="*/ 3383729 h 6858000"/>
              <a:gd name="connsiteX87" fmla="*/ 364294 w 5734864"/>
              <a:gd name="connsiteY87" fmla="*/ 3414159 h 6858000"/>
              <a:gd name="connsiteX88" fmla="*/ 366450 w 5734864"/>
              <a:gd name="connsiteY88" fmla="*/ 3436925 h 6858000"/>
              <a:gd name="connsiteX89" fmla="*/ 351743 w 5734864"/>
              <a:gd name="connsiteY89" fmla="*/ 3521619 h 6858000"/>
              <a:gd name="connsiteX90" fmla="*/ 345784 w 5734864"/>
              <a:gd name="connsiteY90" fmla="*/ 3603757 h 6858000"/>
              <a:gd name="connsiteX91" fmla="*/ 344198 w 5734864"/>
              <a:gd name="connsiteY91" fmla="*/ 3652424 h 6858000"/>
              <a:gd name="connsiteX92" fmla="*/ 352450 w 5734864"/>
              <a:gd name="connsiteY92" fmla="*/ 3665222 h 6858000"/>
              <a:gd name="connsiteX93" fmla="*/ 342621 w 5734864"/>
              <a:gd name="connsiteY93" fmla="*/ 3700804 h 6858000"/>
              <a:gd name="connsiteX94" fmla="*/ 341514 w 5734864"/>
              <a:gd name="connsiteY94" fmla="*/ 3734774 h 6858000"/>
              <a:gd name="connsiteX95" fmla="*/ 340607 w 5734864"/>
              <a:gd name="connsiteY95" fmla="*/ 3785153 h 6858000"/>
              <a:gd name="connsiteX96" fmla="*/ 340707 w 5734864"/>
              <a:gd name="connsiteY96" fmla="*/ 3788177 h 6858000"/>
              <a:gd name="connsiteX97" fmla="*/ 340361 w 5734864"/>
              <a:gd name="connsiteY97" fmla="*/ 3798803 h 6858000"/>
              <a:gd name="connsiteX98" fmla="*/ 339642 w 5734864"/>
              <a:gd name="connsiteY98" fmla="*/ 3838750 h 6858000"/>
              <a:gd name="connsiteX99" fmla="*/ 360295 w 5734864"/>
              <a:gd name="connsiteY99" fmla="*/ 4015196 h 6858000"/>
              <a:gd name="connsiteX100" fmla="*/ 339043 w 5734864"/>
              <a:gd name="connsiteY100" fmla="*/ 4052778 h 6858000"/>
              <a:gd name="connsiteX101" fmla="*/ 339343 w 5734864"/>
              <a:gd name="connsiteY101" fmla="*/ 4096257 h 6858000"/>
              <a:gd name="connsiteX102" fmla="*/ 340786 w 5734864"/>
              <a:gd name="connsiteY102" fmla="*/ 4321136 h 6858000"/>
              <a:gd name="connsiteX103" fmla="*/ 343158 w 5734864"/>
              <a:gd name="connsiteY103" fmla="*/ 4429174 h 6858000"/>
              <a:gd name="connsiteX104" fmla="*/ 334599 w 5734864"/>
              <a:gd name="connsiteY104" fmla="*/ 4449938 h 6858000"/>
              <a:gd name="connsiteX105" fmla="*/ 332890 w 5734864"/>
              <a:gd name="connsiteY105" fmla="*/ 4453515 h 6858000"/>
              <a:gd name="connsiteX106" fmla="*/ 331105 w 5734864"/>
              <a:gd name="connsiteY106" fmla="*/ 4467941 h 6858000"/>
              <a:gd name="connsiteX107" fmla="*/ 324289 w 5734864"/>
              <a:gd name="connsiteY107" fmla="*/ 4471861 h 6858000"/>
              <a:gd name="connsiteX108" fmla="*/ 317079 w 5734864"/>
              <a:gd name="connsiteY108" fmla="*/ 4493468 h 6858000"/>
              <a:gd name="connsiteX109" fmla="*/ 315557 w 5734864"/>
              <a:gd name="connsiteY109" fmla="*/ 4520067 h 6858000"/>
              <a:gd name="connsiteX110" fmla="*/ 315240 w 5734864"/>
              <a:gd name="connsiteY110" fmla="*/ 4536872 h 6858000"/>
              <a:gd name="connsiteX111" fmla="*/ 316200 w 5734864"/>
              <a:gd name="connsiteY111" fmla="*/ 4538297 h 6858000"/>
              <a:gd name="connsiteX112" fmla="*/ 317507 w 5734864"/>
              <a:gd name="connsiteY112" fmla="*/ 4547582 h 6858000"/>
              <a:gd name="connsiteX113" fmla="*/ 323078 w 5734864"/>
              <a:gd name="connsiteY113" fmla="*/ 4592102 h 6858000"/>
              <a:gd name="connsiteX114" fmla="*/ 328722 w 5734864"/>
              <a:gd name="connsiteY114" fmla="*/ 4667914 h 6858000"/>
              <a:gd name="connsiteX115" fmla="*/ 335597 w 5734864"/>
              <a:gd name="connsiteY115" fmla="*/ 4695035 h 6858000"/>
              <a:gd name="connsiteX116" fmla="*/ 339485 w 5734864"/>
              <a:gd name="connsiteY116" fmla="*/ 4695979 h 6858000"/>
              <a:gd name="connsiteX117" fmla="*/ 341089 w 5734864"/>
              <a:gd name="connsiteY117" fmla="*/ 4704268 h 6858000"/>
              <a:gd name="connsiteX118" fmla="*/ 342177 w 5734864"/>
              <a:gd name="connsiteY118" fmla="*/ 4706060 h 6858000"/>
              <a:gd name="connsiteX119" fmla="*/ 347751 w 5734864"/>
              <a:gd name="connsiteY119" fmla="*/ 4716754 h 6858000"/>
              <a:gd name="connsiteX120" fmla="*/ 344125 w 5734864"/>
              <a:gd name="connsiteY120" fmla="*/ 4764669 h 6858000"/>
              <a:gd name="connsiteX121" fmla="*/ 340188 w 5734864"/>
              <a:gd name="connsiteY121" fmla="*/ 4779386 h 6858000"/>
              <a:gd name="connsiteX122" fmla="*/ 335146 w 5734864"/>
              <a:gd name="connsiteY122" fmla="*/ 4787491 h 6858000"/>
              <a:gd name="connsiteX123" fmla="*/ 319124 w 5734864"/>
              <a:gd name="connsiteY123" fmla="*/ 4843514 h 6858000"/>
              <a:gd name="connsiteX124" fmla="*/ 305956 w 5734864"/>
              <a:gd name="connsiteY124" fmla="*/ 4881505 h 6858000"/>
              <a:gd name="connsiteX125" fmla="*/ 301062 w 5734864"/>
              <a:gd name="connsiteY125" fmla="*/ 4889332 h 6858000"/>
              <a:gd name="connsiteX126" fmla="*/ 302141 w 5734864"/>
              <a:gd name="connsiteY126" fmla="*/ 4899400 h 6858000"/>
              <a:gd name="connsiteX127" fmla="*/ 304424 w 5734864"/>
              <a:gd name="connsiteY127" fmla="*/ 4902664 h 6858000"/>
              <a:gd name="connsiteX128" fmla="*/ 293123 w 5734864"/>
              <a:gd name="connsiteY128" fmla="*/ 4932769 h 6858000"/>
              <a:gd name="connsiteX129" fmla="*/ 292275 w 5734864"/>
              <a:gd name="connsiteY129" fmla="*/ 4936482 h 6858000"/>
              <a:gd name="connsiteX130" fmla="*/ 288304 w 5734864"/>
              <a:gd name="connsiteY130" fmla="*/ 4962325 h 6858000"/>
              <a:gd name="connsiteX131" fmla="*/ 287420 w 5734864"/>
              <a:gd name="connsiteY131" fmla="*/ 5042193 h 6858000"/>
              <a:gd name="connsiteX132" fmla="*/ 287020 w 5734864"/>
              <a:gd name="connsiteY132" fmla="*/ 5065655 h 6858000"/>
              <a:gd name="connsiteX133" fmla="*/ 288488 w 5734864"/>
              <a:gd name="connsiteY133" fmla="*/ 5082216 h 6858000"/>
              <a:gd name="connsiteX134" fmla="*/ 282763 w 5734864"/>
              <a:gd name="connsiteY134" fmla="*/ 5127114 h 6858000"/>
              <a:gd name="connsiteX135" fmla="*/ 269316 w 5734864"/>
              <a:gd name="connsiteY135" fmla="*/ 5202682 h 6858000"/>
              <a:gd name="connsiteX136" fmla="*/ 269174 w 5734864"/>
              <a:gd name="connsiteY136" fmla="*/ 5230835 h 6858000"/>
              <a:gd name="connsiteX137" fmla="*/ 272679 w 5734864"/>
              <a:gd name="connsiteY137" fmla="*/ 5232660 h 6858000"/>
              <a:gd name="connsiteX138" fmla="*/ 272160 w 5734864"/>
              <a:gd name="connsiteY138" fmla="*/ 5241150 h 6858000"/>
              <a:gd name="connsiteX139" fmla="*/ 272760 w 5734864"/>
              <a:gd name="connsiteY139" fmla="*/ 5243156 h 6858000"/>
              <a:gd name="connsiteX140" fmla="*/ 275462 w 5734864"/>
              <a:gd name="connsiteY140" fmla="*/ 5254919 h 6858000"/>
              <a:gd name="connsiteX141" fmla="*/ 262897 w 5734864"/>
              <a:gd name="connsiteY141" fmla="*/ 5286259 h 6858000"/>
              <a:gd name="connsiteX142" fmla="*/ 252761 w 5734864"/>
              <a:gd name="connsiteY142" fmla="*/ 5357801 h 6858000"/>
              <a:gd name="connsiteX143" fmla="*/ 242360 w 5734864"/>
              <a:gd name="connsiteY143" fmla="*/ 5460080 h 6858000"/>
              <a:gd name="connsiteX144" fmla="*/ 229880 w 5734864"/>
              <a:gd name="connsiteY144" fmla="*/ 5539714 h 6858000"/>
              <a:gd name="connsiteX145" fmla="*/ 204283 w 5734864"/>
              <a:gd name="connsiteY145" fmla="*/ 5639080 h 6858000"/>
              <a:gd name="connsiteX146" fmla="*/ 198948 w 5734864"/>
              <a:gd name="connsiteY146" fmla="*/ 5710958 h 6858000"/>
              <a:gd name="connsiteX147" fmla="*/ 192367 w 5734864"/>
              <a:gd name="connsiteY147" fmla="*/ 5719859 h 6858000"/>
              <a:gd name="connsiteX148" fmla="*/ 188035 w 5734864"/>
              <a:gd name="connsiteY148" fmla="*/ 5729935 h 6858000"/>
              <a:gd name="connsiteX149" fmla="*/ 188428 w 5734864"/>
              <a:gd name="connsiteY149" fmla="*/ 5731182 h 6858000"/>
              <a:gd name="connsiteX150" fmla="*/ 181635 w 5734864"/>
              <a:gd name="connsiteY150" fmla="*/ 5753538 h 6858000"/>
              <a:gd name="connsiteX151" fmla="*/ 169744 w 5734864"/>
              <a:gd name="connsiteY151" fmla="*/ 5796307 h 6858000"/>
              <a:gd name="connsiteX152" fmla="*/ 170351 w 5734864"/>
              <a:gd name="connsiteY152" fmla="*/ 5796644 h 6858000"/>
              <a:gd name="connsiteX153" fmla="*/ 171559 w 5734864"/>
              <a:gd name="connsiteY153" fmla="*/ 5803435 h 6858000"/>
              <a:gd name="connsiteX154" fmla="*/ 172284 w 5734864"/>
              <a:gd name="connsiteY154" fmla="*/ 5816391 h 6858000"/>
              <a:gd name="connsiteX155" fmla="*/ 182542 w 5734864"/>
              <a:gd name="connsiteY155" fmla="*/ 5846382 h 6858000"/>
              <a:gd name="connsiteX156" fmla="*/ 175877 w 5734864"/>
              <a:gd name="connsiteY156" fmla="*/ 5871336 h 6858000"/>
              <a:gd name="connsiteX157" fmla="*/ 174910 w 5734864"/>
              <a:gd name="connsiteY157" fmla="*/ 5876376 h 6858000"/>
              <a:gd name="connsiteX158" fmla="*/ 175047 w 5734864"/>
              <a:gd name="connsiteY158" fmla="*/ 5876483 h 6858000"/>
              <a:gd name="connsiteX159" fmla="*/ 174335 w 5734864"/>
              <a:gd name="connsiteY159" fmla="*/ 5881814 h 6858000"/>
              <a:gd name="connsiteX160" fmla="*/ 171273 w 5734864"/>
              <a:gd name="connsiteY160" fmla="*/ 5895339 h 6858000"/>
              <a:gd name="connsiteX161" fmla="*/ 171658 w 5734864"/>
              <a:gd name="connsiteY161" fmla="*/ 5898749 h 6858000"/>
              <a:gd name="connsiteX162" fmla="*/ 174658 w 5734864"/>
              <a:gd name="connsiteY162" fmla="*/ 5919558 h 6858000"/>
              <a:gd name="connsiteX163" fmla="*/ 169099 w 5734864"/>
              <a:gd name="connsiteY163" fmla="*/ 5984417 h 6858000"/>
              <a:gd name="connsiteX164" fmla="*/ 162007 w 5734864"/>
              <a:gd name="connsiteY164" fmla="*/ 6049043 h 6858000"/>
              <a:gd name="connsiteX165" fmla="*/ 156875 w 5734864"/>
              <a:gd name="connsiteY165" fmla="*/ 6114000 h 6858000"/>
              <a:gd name="connsiteX166" fmla="*/ 165441 w 5734864"/>
              <a:gd name="connsiteY166" fmla="*/ 6146938 h 6858000"/>
              <a:gd name="connsiteX167" fmla="*/ 165177 w 5734864"/>
              <a:gd name="connsiteY167" fmla="*/ 6150658 h 6858000"/>
              <a:gd name="connsiteX168" fmla="*/ 161772 w 5734864"/>
              <a:gd name="connsiteY168" fmla="*/ 6160011 h 6858000"/>
              <a:gd name="connsiteX169" fmla="*/ 160051 w 5734864"/>
              <a:gd name="connsiteY169" fmla="*/ 6163393 h 6858000"/>
              <a:gd name="connsiteX170" fmla="*/ 158473 w 5734864"/>
              <a:gd name="connsiteY170" fmla="*/ 6168628 h 6858000"/>
              <a:gd name="connsiteX171" fmla="*/ 158573 w 5734864"/>
              <a:gd name="connsiteY171" fmla="*/ 6168799 h 6858000"/>
              <a:gd name="connsiteX172" fmla="*/ 146463 w 5734864"/>
              <a:gd name="connsiteY172" fmla="*/ 6196671 h 6858000"/>
              <a:gd name="connsiteX173" fmla="*/ 150209 w 5734864"/>
              <a:gd name="connsiteY173" fmla="*/ 6232365 h 6858000"/>
              <a:gd name="connsiteX174" fmla="*/ 148544 w 5734864"/>
              <a:gd name="connsiteY174" fmla="*/ 6246162 h 6858000"/>
              <a:gd name="connsiteX175" fmla="*/ 148403 w 5734864"/>
              <a:gd name="connsiteY175" fmla="*/ 6253754 h 6858000"/>
              <a:gd name="connsiteX176" fmla="*/ 138880 w 5734864"/>
              <a:gd name="connsiteY176" fmla="*/ 6276449 h 6858000"/>
              <a:gd name="connsiteX177" fmla="*/ 138683 w 5734864"/>
              <a:gd name="connsiteY177" fmla="*/ 6279721 h 6858000"/>
              <a:gd name="connsiteX178" fmla="*/ 130721 w 5734864"/>
              <a:gd name="connsiteY178" fmla="*/ 6293675 h 6858000"/>
              <a:gd name="connsiteX179" fmla="*/ 120717 w 5734864"/>
              <a:gd name="connsiteY179" fmla="*/ 6313967 h 6858000"/>
              <a:gd name="connsiteX180" fmla="*/ 120841 w 5734864"/>
              <a:gd name="connsiteY180" fmla="*/ 6315437 h 6858000"/>
              <a:gd name="connsiteX181" fmla="*/ 115208 w 5734864"/>
              <a:gd name="connsiteY181" fmla="*/ 6324024 h 6858000"/>
              <a:gd name="connsiteX182" fmla="*/ 101217 w 5734864"/>
              <a:gd name="connsiteY182" fmla="*/ 6365923 h 6858000"/>
              <a:gd name="connsiteX183" fmla="*/ 74946 w 5734864"/>
              <a:gd name="connsiteY183" fmla="*/ 6556817 h 6858000"/>
              <a:gd name="connsiteX184" fmla="*/ 16001 w 5734864"/>
              <a:gd name="connsiteY184" fmla="*/ 6808678 h 6858000"/>
              <a:gd name="connsiteX185" fmla="*/ 0 w 5734864"/>
              <a:gd name="connsiteY185" fmla="*/ 6858000 h 6858000"/>
              <a:gd name="connsiteX186" fmla="*/ 5734864 w 5734864"/>
              <a:gd name="connsiteY186" fmla="*/ 6858000 h 6858000"/>
              <a:gd name="connsiteX187" fmla="*/ 5734864 w 5734864"/>
              <a:gd name="connsiteY18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Lst>
            <a:rect l="l" t="t" r="r" b="b"/>
            <a:pathLst>
              <a:path w="5734864" h="6858000">
                <a:moveTo>
                  <a:pt x="5734864" y="0"/>
                </a:moveTo>
                <a:lnTo>
                  <a:pt x="771611" y="0"/>
                </a:lnTo>
                <a:cubicBezTo>
                  <a:pt x="771634" y="16369"/>
                  <a:pt x="771656" y="32739"/>
                  <a:pt x="771679" y="49108"/>
                </a:cubicBezTo>
                <a:cubicBezTo>
                  <a:pt x="775201" y="55622"/>
                  <a:pt x="788724" y="196721"/>
                  <a:pt x="794248" y="200968"/>
                </a:cubicBezTo>
                <a:lnTo>
                  <a:pt x="801749" y="414071"/>
                </a:lnTo>
                <a:cubicBezTo>
                  <a:pt x="807329" y="440933"/>
                  <a:pt x="835107" y="598697"/>
                  <a:pt x="818548" y="585467"/>
                </a:cubicBezTo>
                <a:cubicBezTo>
                  <a:pt x="856197" y="664140"/>
                  <a:pt x="837895" y="708473"/>
                  <a:pt x="857476" y="800623"/>
                </a:cubicBezTo>
                <a:cubicBezTo>
                  <a:pt x="822401" y="857344"/>
                  <a:pt x="855723" y="824571"/>
                  <a:pt x="851083" y="878903"/>
                </a:cubicBezTo>
                <a:cubicBezTo>
                  <a:pt x="884811" y="859448"/>
                  <a:pt x="834648" y="946397"/>
                  <a:pt x="873564" y="943826"/>
                </a:cubicBezTo>
                <a:cubicBezTo>
                  <a:pt x="871487" y="953795"/>
                  <a:pt x="868248" y="963533"/>
                  <a:pt x="864705" y="973328"/>
                </a:cubicBezTo>
                <a:lnTo>
                  <a:pt x="862869" y="978457"/>
                </a:lnTo>
                <a:lnTo>
                  <a:pt x="862233" y="998041"/>
                </a:lnTo>
                <a:lnTo>
                  <a:pt x="853665" y="1004750"/>
                </a:lnTo>
                <a:lnTo>
                  <a:pt x="847865" y="1070795"/>
                </a:lnTo>
                <a:cubicBezTo>
                  <a:pt x="870234" y="1110486"/>
                  <a:pt x="833172" y="1190441"/>
                  <a:pt x="862786" y="1238994"/>
                </a:cubicBezTo>
                <a:cubicBezTo>
                  <a:pt x="864699" y="1290599"/>
                  <a:pt x="860615" y="1347716"/>
                  <a:pt x="859345" y="1380427"/>
                </a:cubicBezTo>
                <a:cubicBezTo>
                  <a:pt x="845703" y="1396391"/>
                  <a:pt x="873184" y="1435525"/>
                  <a:pt x="855172" y="1435262"/>
                </a:cubicBezTo>
                <a:lnTo>
                  <a:pt x="860494" y="1453861"/>
                </a:lnTo>
                <a:lnTo>
                  <a:pt x="853731" y="1467047"/>
                </a:lnTo>
                <a:cubicBezTo>
                  <a:pt x="846549" y="1480528"/>
                  <a:pt x="841728" y="1491093"/>
                  <a:pt x="845847" y="1502307"/>
                </a:cubicBezTo>
                <a:lnTo>
                  <a:pt x="817613" y="1565166"/>
                </a:lnTo>
                <a:cubicBezTo>
                  <a:pt x="805468" y="1557258"/>
                  <a:pt x="816534" y="1596564"/>
                  <a:pt x="804223" y="1601941"/>
                </a:cubicBezTo>
                <a:cubicBezTo>
                  <a:pt x="794287" y="1604654"/>
                  <a:pt x="795328" y="1617209"/>
                  <a:pt x="791773" y="1627005"/>
                </a:cubicBezTo>
                <a:cubicBezTo>
                  <a:pt x="781684" y="1634393"/>
                  <a:pt x="772978" y="1683187"/>
                  <a:pt x="774645" y="1699922"/>
                </a:cubicBezTo>
                <a:cubicBezTo>
                  <a:pt x="785341" y="1746767"/>
                  <a:pt x="744845" y="1787099"/>
                  <a:pt x="752343" y="1824604"/>
                </a:cubicBezTo>
                <a:cubicBezTo>
                  <a:pt x="751502" y="1834578"/>
                  <a:pt x="749297" y="1842929"/>
                  <a:pt x="746254" y="1850222"/>
                </a:cubicBezTo>
                <a:lnTo>
                  <a:pt x="728600" y="1869603"/>
                </a:lnTo>
                <a:lnTo>
                  <a:pt x="724396" y="1883104"/>
                </a:lnTo>
                <a:lnTo>
                  <a:pt x="722165" y="1885924"/>
                </a:lnTo>
                <a:lnTo>
                  <a:pt x="721338" y="1887123"/>
                </a:lnTo>
                <a:lnTo>
                  <a:pt x="714840" y="1902274"/>
                </a:lnTo>
                <a:lnTo>
                  <a:pt x="722847" y="1929891"/>
                </a:lnTo>
                <a:lnTo>
                  <a:pt x="714660" y="1982709"/>
                </a:lnTo>
                <a:cubicBezTo>
                  <a:pt x="727725" y="2006201"/>
                  <a:pt x="714739" y="1997091"/>
                  <a:pt x="710759" y="2013010"/>
                </a:cubicBezTo>
                <a:cubicBezTo>
                  <a:pt x="707970" y="2027531"/>
                  <a:pt x="700788" y="2054714"/>
                  <a:pt x="697927" y="2069833"/>
                </a:cubicBezTo>
                <a:cubicBezTo>
                  <a:pt x="685211" y="2080229"/>
                  <a:pt x="698762" y="2088241"/>
                  <a:pt x="693594" y="2103731"/>
                </a:cubicBezTo>
                <a:cubicBezTo>
                  <a:pt x="688481" y="2110649"/>
                  <a:pt x="687183" y="2115973"/>
                  <a:pt x="691109" y="2124027"/>
                </a:cubicBezTo>
                <a:cubicBezTo>
                  <a:pt x="666413" y="2155740"/>
                  <a:pt x="688031" y="2144874"/>
                  <a:pt x="676593" y="2176182"/>
                </a:cubicBezTo>
                <a:cubicBezTo>
                  <a:pt x="665190" y="2202944"/>
                  <a:pt x="656416" y="2233857"/>
                  <a:pt x="633227" y="2258036"/>
                </a:cubicBezTo>
                <a:cubicBezTo>
                  <a:pt x="626930" y="2262191"/>
                  <a:pt x="623498" y="2274069"/>
                  <a:pt x="625564" y="2284567"/>
                </a:cubicBezTo>
                <a:cubicBezTo>
                  <a:pt x="625918" y="2286374"/>
                  <a:pt x="626427" y="2288071"/>
                  <a:pt x="627074" y="2289605"/>
                </a:cubicBezTo>
                <a:cubicBezTo>
                  <a:pt x="619029" y="2296628"/>
                  <a:pt x="616453" y="2303188"/>
                  <a:pt x="614574" y="2308717"/>
                </a:cubicBezTo>
                <a:lnTo>
                  <a:pt x="606890" y="2320662"/>
                </a:lnTo>
                <a:lnTo>
                  <a:pt x="605558" y="2327897"/>
                </a:lnTo>
                <a:lnTo>
                  <a:pt x="602202" y="2357749"/>
                </a:lnTo>
                <a:lnTo>
                  <a:pt x="600213" y="2364905"/>
                </a:lnTo>
                <a:lnTo>
                  <a:pt x="597160" y="2388351"/>
                </a:lnTo>
                <a:lnTo>
                  <a:pt x="597982" y="2402296"/>
                </a:lnTo>
                <a:lnTo>
                  <a:pt x="593150" y="2420015"/>
                </a:lnTo>
                <a:cubicBezTo>
                  <a:pt x="593044" y="2420926"/>
                  <a:pt x="592939" y="2421838"/>
                  <a:pt x="592833" y="2422749"/>
                </a:cubicBezTo>
                <a:lnTo>
                  <a:pt x="594479" y="2426002"/>
                </a:lnTo>
                <a:cubicBezTo>
                  <a:pt x="594168" y="2427683"/>
                  <a:pt x="593118" y="2429721"/>
                  <a:pt x="591963" y="2431950"/>
                </a:cubicBezTo>
                <a:cubicBezTo>
                  <a:pt x="591823" y="2432599"/>
                  <a:pt x="591684" y="2433248"/>
                  <a:pt x="591544" y="2433897"/>
                </a:cubicBezTo>
                <a:lnTo>
                  <a:pt x="589519" y="2451398"/>
                </a:lnTo>
                <a:cubicBezTo>
                  <a:pt x="589692" y="2452777"/>
                  <a:pt x="589864" y="2454157"/>
                  <a:pt x="590037" y="2455536"/>
                </a:cubicBezTo>
                <a:lnTo>
                  <a:pt x="588179" y="2462981"/>
                </a:lnTo>
                <a:lnTo>
                  <a:pt x="583434" y="2503991"/>
                </a:lnTo>
                <a:cubicBezTo>
                  <a:pt x="576530" y="2566058"/>
                  <a:pt x="570433" y="2625224"/>
                  <a:pt x="567942" y="2652936"/>
                </a:cubicBezTo>
                <a:cubicBezTo>
                  <a:pt x="570864" y="2658290"/>
                  <a:pt x="572739" y="2664095"/>
                  <a:pt x="573869" y="2670188"/>
                </a:cubicBezTo>
                <a:lnTo>
                  <a:pt x="575243" y="2688114"/>
                </a:lnTo>
                <a:lnTo>
                  <a:pt x="573824" y="2689856"/>
                </a:lnTo>
                <a:cubicBezTo>
                  <a:pt x="569972" y="2698471"/>
                  <a:pt x="569572" y="2704494"/>
                  <a:pt x="570699" y="2709353"/>
                </a:cubicBezTo>
                <a:lnTo>
                  <a:pt x="573192" y="2714527"/>
                </a:lnTo>
                <a:cubicBezTo>
                  <a:pt x="572809" y="2719080"/>
                  <a:pt x="572427" y="2723634"/>
                  <a:pt x="572044" y="2728187"/>
                </a:cubicBezTo>
                <a:cubicBezTo>
                  <a:pt x="572184" y="2737412"/>
                  <a:pt x="572325" y="2746638"/>
                  <a:pt x="572465" y="2755863"/>
                </a:cubicBezTo>
                <a:lnTo>
                  <a:pt x="570028" y="2760324"/>
                </a:lnTo>
                <a:lnTo>
                  <a:pt x="566748" y="2800948"/>
                </a:lnTo>
                <a:lnTo>
                  <a:pt x="565509" y="2801167"/>
                </a:lnTo>
                <a:cubicBezTo>
                  <a:pt x="562655" y="2802587"/>
                  <a:pt x="560408" y="2805381"/>
                  <a:pt x="559367" y="2811129"/>
                </a:cubicBezTo>
                <a:cubicBezTo>
                  <a:pt x="543471" y="2797318"/>
                  <a:pt x="552020" y="2812773"/>
                  <a:pt x="550354" y="2830949"/>
                </a:cubicBezTo>
                <a:cubicBezTo>
                  <a:pt x="525292" y="2813553"/>
                  <a:pt x="531129" y="2868192"/>
                  <a:pt x="514795" y="2872433"/>
                </a:cubicBezTo>
                <a:lnTo>
                  <a:pt x="509875" y="2923099"/>
                </a:lnTo>
                <a:lnTo>
                  <a:pt x="509577" y="2923197"/>
                </a:lnTo>
                <a:cubicBezTo>
                  <a:pt x="508704" y="2924865"/>
                  <a:pt x="508038" y="2927556"/>
                  <a:pt x="507597" y="2931868"/>
                </a:cubicBezTo>
                <a:cubicBezTo>
                  <a:pt x="507524" y="2934019"/>
                  <a:pt x="507452" y="2936171"/>
                  <a:pt x="507379" y="2938322"/>
                </a:cubicBezTo>
                <a:lnTo>
                  <a:pt x="504725" y="2954519"/>
                </a:lnTo>
                <a:lnTo>
                  <a:pt x="502018" y="2959643"/>
                </a:lnTo>
                <a:lnTo>
                  <a:pt x="498360" y="2961019"/>
                </a:lnTo>
                <a:lnTo>
                  <a:pt x="498483" y="2962590"/>
                </a:lnTo>
                <a:cubicBezTo>
                  <a:pt x="502388" y="2975027"/>
                  <a:pt x="510202" y="2980016"/>
                  <a:pt x="484403" y="2990538"/>
                </a:cubicBezTo>
                <a:cubicBezTo>
                  <a:pt x="489425" y="3018352"/>
                  <a:pt x="474337" y="3021029"/>
                  <a:pt x="463075" y="3055956"/>
                </a:cubicBezTo>
                <a:cubicBezTo>
                  <a:pt x="469487" y="3072485"/>
                  <a:pt x="464165" y="3083955"/>
                  <a:pt x="455013" y="3094482"/>
                </a:cubicBezTo>
                <a:cubicBezTo>
                  <a:pt x="453131" y="3130054"/>
                  <a:pt x="437643" y="3160106"/>
                  <a:pt x="428391" y="3198850"/>
                </a:cubicBezTo>
                <a:lnTo>
                  <a:pt x="401440" y="3307560"/>
                </a:lnTo>
                <a:lnTo>
                  <a:pt x="386076" y="3373943"/>
                </a:lnTo>
                <a:cubicBezTo>
                  <a:pt x="386236" y="3376061"/>
                  <a:pt x="380537" y="3378856"/>
                  <a:pt x="374726" y="3381364"/>
                </a:cubicBezTo>
                <a:lnTo>
                  <a:pt x="369145" y="3383729"/>
                </a:lnTo>
                <a:lnTo>
                  <a:pt x="364294" y="3414159"/>
                </a:lnTo>
                <a:lnTo>
                  <a:pt x="366450" y="3436925"/>
                </a:lnTo>
                <a:lnTo>
                  <a:pt x="351743" y="3521619"/>
                </a:lnTo>
                <a:lnTo>
                  <a:pt x="345784" y="3603757"/>
                </a:lnTo>
                <a:cubicBezTo>
                  <a:pt x="345255" y="3619979"/>
                  <a:pt x="344727" y="3636202"/>
                  <a:pt x="344198" y="3652424"/>
                </a:cubicBezTo>
                <a:lnTo>
                  <a:pt x="352450" y="3665222"/>
                </a:lnTo>
                <a:lnTo>
                  <a:pt x="342621" y="3700804"/>
                </a:lnTo>
                <a:lnTo>
                  <a:pt x="341514" y="3734774"/>
                </a:lnTo>
                <a:cubicBezTo>
                  <a:pt x="341212" y="3751567"/>
                  <a:pt x="340909" y="3768360"/>
                  <a:pt x="340607" y="3785153"/>
                </a:cubicBezTo>
                <a:cubicBezTo>
                  <a:pt x="340640" y="3786161"/>
                  <a:pt x="340674" y="3787169"/>
                  <a:pt x="340707" y="3788177"/>
                </a:cubicBezTo>
                <a:cubicBezTo>
                  <a:pt x="340592" y="3791719"/>
                  <a:pt x="340476" y="3795261"/>
                  <a:pt x="340361" y="3798803"/>
                </a:cubicBezTo>
                <a:cubicBezTo>
                  <a:pt x="340121" y="3812119"/>
                  <a:pt x="339882" y="3825434"/>
                  <a:pt x="339642" y="3838750"/>
                </a:cubicBezTo>
                <a:cubicBezTo>
                  <a:pt x="337363" y="3949044"/>
                  <a:pt x="361794" y="3960437"/>
                  <a:pt x="360295" y="4015196"/>
                </a:cubicBezTo>
                <a:lnTo>
                  <a:pt x="339043" y="4052778"/>
                </a:lnTo>
                <a:lnTo>
                  <a:pt x="339343" y="4096257"/>
                </a:lnTo>
                <a:cubicBezTo>
                  <a:pt x="362058" y="4159145"/>
                  <a:pt x="332404" y="4250479"/>
                  <a:pt x="340786" y="4321136"/>
                </a:cubicBezTo>
                <a:cubicBezTo>
                  <a:pt x="341421" y="4376624"/>
                  <a:pt x="344189" y="4407708"/>
                  <a:pt x="343158" y="4429174"/>
                </a:cubicBezTo>
                <a:cubicBezTo>
                  <a:pt x="340948" y="4436304"/>
                  <a:pt x="337887" y="4443121"/>
                  <a:pt x="334599" y="4449938"/>
                </a:cubicBezTo>
                <a:lnTo>
                  <a:pt x="332890" y="4453515"/>
                </a:lnTo>
                <a:lnTo>
                  <a:pt x="331105" y="4467941"/>
                </a:lnTo>
                <a:lnTo>
                  <a:pt x="324289" y="4471861"/>
                </a:lnTo>
                <a:lnTo>
                  <a:pt x="317079" y="4493468"/>
                </a:lnTo>
                <a:cubicBezTo>
                  <a:pt x="315353" y="4501584"/>
                  <a:pt x="314639" y="4510343"/>
                  <a:pt x="315557" y="4520067"/>
                </a:cubicBezTo>
                <a:cubicBezTo>
                  <a:pt x="315451" y="4525669"/>
                  <a:pt x="315346" y="4531270"/>
                  <a:pt x="315240" y="4536872"/>
                </a:cubicBezTo>
                <a:lnTo>
                  <a:pt x="316200" y="4538297"/>
                </a:lnTo>
                <a:cubicBezTo>
                  <a:pt x="316738" y="4541182"/>
                  <a:pt x="316785" y="4544563"/>
                  <a:pt x="317507" y="4547582"/>
                </a:cubicBezTo>
                <a:cubicBezTo>
                  <a:pt x="322716" y="4552468"/>
                  <a:pt x="324912" y="4582137"/>
                  <a:pt x="323078" y="4592102"/>
                </a:cubicBezTo>
                <a:cubicBezTo>
                  <a:pt x="314597" y="4619728"/>
                  <a:pt x="334923" y="4645745"/>
                  <a:pt x="328722" y="4667914"/>
                </a:cubicBezTo>
                <a:cubicBezTo>
                  <a:pt x="330810" y="4685069"/>
                  <a:pt x="333803" y="4690356"/>
                  <a:pt x="335597" y="4695035"/>
                </a:cubicBezTo>
                <a:lnTo>
                  <a:pt x="339485" y="4695979"/>
                </a:lnTo>
                <a:lnTo>
                  <a:pt x="341089" y="4704268"/>
                </a:lnTo>
                <a:lnTo>
                  <a:pt x="342177" y="4706060"/>
                </a:lnTo>
                <a:cubicBezTo>
                  <a:pt x="344268" y="4709474"/>
                  <a:pt x="346234" y="4712931"/>
                  <a:pt x="347751" y="4716754"/>
                </a:cubicBezTo>
                <a:lnTo>
                  <a:pt x="344125" y="4764669"/>
                </a:lnTo>
                <a:lnTo>
                  <a:pt x="340188" y="4779386"/>
                </a:lnTo>
                <a:lnTo>
                  <a:pt x="335146" y="4787491"/>
                </a:lnTo>
                <a:lnTo>
                  <a:pt x="319124" y="4843514"/>
                </a:lnTo>
                <a:lnTo>
                  <a:pt x="305956" y="4881505"/>
                </a:lnTo>
                <a:lnTo>
                  <a:pt x="301062" y="4889332"/>
                </a:lnTo>
                <a:lnTo>
                  <a:pt x="302141" y="4899400"/>
                </a:lnTo>
                <a:cubicBezTo>
                  <a:pt x="302767" y="4900706"/>
                  <a:pt x="303536" y="4901803"/>
                  <a:pt x="304424" y="4902664"/>
                </a:cubicBezTo>
                <a:lnTo>
                  <a:pt x="293123" y="4932769"/>
                </a:lnTo>
                <a:lnTo>
                  <a:pt x="292275" y="4936482"/>
                </a:lnTo>
                <a:lnTo>
                  <a:pt x="288304" y="4962325"/>
                </a:lnTo>
                <a:cubicBezTo>
                  <a:pt x="288009" y="4988948"/>
                  <a:pt x="287715" y="5015570"/>
                  <a:pt x="287420" y="5042193"/>
                </a:cubicBezTo>
                <a:cubicBezTo>
                  <a:pt x="295373" y="5039737"/>
                  <a:pt x="281659" y="5060438"/>
                  <a:pt x="287020" y="5065655"/>
                </a:cubicBezTo>
                <a:cubicBezTo>
                  <a:pt x="291675" y="5068928"/>
                  <a:pt x="288601" y="5075970"/>
                  <a:pt x="288488" y="5082216"/>
                </a:cubicBezTo>
                <a:cubicBezTo>
                  <a:pt x="292282" y="5088207"/>
                  <a:pt x="287008" y="5117775"/>
                  <a:pt x="282763" y="5127114"/>
                </a:cubicBezTo>
                <a:cubicBezTo>
                  <a:pt x="267723" y="5152218"/>
                  <a:pt x="280799" y="5182399"/>
                  <a:pt x="269316" y="5202682"/>
                </a:cubicBezTo>
                <a:cubicBezTo>
                  <a:pt x="267050" y="5219969"/>
                  <a:pt x="268614" y="5225841"/>
                  <a:pt x="269174" y="5230835"/>
                </a:cubicBezTo>
                <a:lnTo>
                  <a:pt x="272679" y="5232660"/>
                </a:lnTo>
                <a:lnTo>
                  <a:pt x="272160" y="5241150"/>
                </a:lnTo>
                <a:lnTo>
                  <a:pt x="272760" y="5243156"/>
                </a:lnTo>
                <a:cubicBezTo>
                  <a:pt x="273922" y="5246984"/>
                  <a:pt x="274952" y="5250824"/>
                  <a:pt x="275462" y="5254919"/>
                </a:cubicBezTo>
                <a:cubicBezTo>
                  <a:pt x="258407" y="5258851"/>
                  <a:pt x="276976" y="5290392"/>
                  <a:pt x="262897" y="5286259"/>
                </a:cubicBezTo>
                <a:cubicBezTo>
                  <a:pt x="262724" y="5309439"/>
                  <a:pt x="239612" y="5337531"/>
                  <a:pt x="252761" y="5357801"/>
                </a:cubicBezTo>
                <a:cubicBezTo>
                  <a:pt x="248775" y="5392256"/>
                  <a:pt x="247799" y="5423412"/>
                  <a:pt x="242360" y="5460080"/>
                </a:cubicBezTo>
                <a:cubicBezTo>
                  <a:pt x="232632" y="5488478"/>
                  <a:pt x="242025" y="5519143"/>
                  <a:pt x="229880" y="5539714"/>
                </a:cubicBezTo>
                <a:cubicBezTo>
                  <a:pt x="230558" y="5572454"/>
                  <a:pt x="222150" y="5613340"/>
                  <a:pt x="204283" y="5639080"/>
                </a:cubicBezTo>
                <a:cubicBezTo>
                  <a:pt x="201596" y="5674226"/>
                  <a:pt x="191051" y="5680198"/>
                  <a:pt x="198948" y="5710958"/>
                </a:cubicBezTo>
                <a:cubicBezTo>
                  <a:pt x="196338" y="5713534"/>
                  <a:pt x="194185" y="5716550"/>
                  <a:pt x="192367" y="5719859"/>
                </a:cubicBezTo>
                <a:lnTo>
                  <a:pt x="188035" y="5729935"/>
                </a:lnTo>
                <a:lnTo>
                  <a:pt x="188428" y="5731182"/>
                </a:lnTo>
                <a:lnTo>
                  <a:pt x="181635" y="5753538"/>
                </a:lnTo>
                <a:lnTo>
                  <a:pt x="169744" y="5796307"/>
                </a:lnTo>
                <a:lnTo>
                  <a:pt x="170351" y="5796644"/>
                </a:lnTo>
                <a:cubicBezTo>
                  <a:pt x="171558" y="5797954"/>
                  <a:pt x="172173" y="5799948"/>
                  <a:pt x="171559" y="5803435"/>
                </a:cubicBezTo>
                <a:cubicBezTo>
                  <a:pt x="182664" y="5798231"/>
                  <a:pt x="175075" y="5805646"/>
                  <a:pt x="172284" y="5816391"/>
                </a:cubicBezTo>
                <a:cubicBezTo>
                  <a:pt x="188911" y="5810703"/>
                  <a:pt x="174844" y="5841128"/>
                  <a:pt x="182542" y="5846382"/>
                </a:cubicBezTo>
                <a:cubicBezTo>
                  <a:pt x="180118" y="5854404"/>
                  <a:pt x="177856" y="5862781"/>
                  <a:pt x="175877" y="5871336"/>
                </a:cubicBezTo>
                <a:lnTo>
                  <a:pt x="174910" y="5876376"/>
                </a:lnTo>
                <a:lnTo>
                  <a:pt x="175047" y="5876483"/>
                </a:lnTo>
                <a:cubicBezTo>
                  <a:pt x="175167" y="5877594"/>
                  <a:pt x="174973" y="5879257"/>
                  <a:pt x="174335" y="5881814"/>
                </a:cubicBezTo>
                <a:lnTo>
                  <a:pt x="171273" y="5895339"/>
                </a:lnTo>
                <a:cubicBezTo>
                  <a:pt x="171401" y="5896476"/>
                  <a:pt x="171530" y="5897612"/>
                  <a:pt x="171658" y="5898749"/>
                </a:cubicBezTo>
                <a:lnTo>
                  <a:pt x="174658" y="5919558"/>
                </a:lnTo>
                <a:cubicBezTo>
                  <a:pt x="173958" y="5933601"/>
                  <a:pt x="171208" y="5962838"/>
                  <a:pt x="169099" y="5984417"/>
                </a:cubicBezTo>
                <a:cubicBezTo>
                  <a:pt x="162916" y="6005205"/>
                  <a:pt x="164971" y="6025162"/>
                  <a:pt x="162007" y="6049043"/>
                </a:cubicBezTo>
                <a:cubicBezTo>
                  <a:pt x="150795" y="6073830"/>
                  <a:pt x="160091" y="6088483"/>
                  <a:pt x="156875" y="6114000"/>
                </a:cubicBezTo>
                <a:cubicBezTo>
                  <a:pt x="141597" y="6134477"/>
                  <a:pt x="163381" y="6133378"/>
                  <a:pt x="165441" y="6146938"/>
                </a:cubicBezTo>
                <a:lnTo>
                  <a:pt x="165177" y="6150658"/>
                </a:lnTo>
                <a:lnTo>
                  <a:pt x="161772" y="6160011"/>
                </a:lnTo>
                <a:lnTo>
                  <a:pt x="160051" y="6163393"/>
                </a:lnTo>
                <a:cubicBezTo>
                  <a:pt x="159032" y="6165775"/>
                  <a:pt x="158564" y="6167421"/>
                  <a:pt x="158473" y="6168628"/>
                </a:cubicBezTo>
                <a:cubicBezTo>
                  <a:pt x="158506" y="6168685"/>
                  <a:pt x="158540" y="6168742"/>
                  <a:pt x="158573" y="6168799"/>
                </a:cubicBezTo>
                <a:lnTo>
                  <a:pt x="146463" y="6196671"/>
                </a:lnTo>
                <a:cubicBezTo>
                  <a:pt x="152348" y="6205503"/>
                  <a:pt x="134460" y="6231012"/>
                  <a:pt x="150209" y="6232365"/>
                </a:cubicBezTo>
                <a:cubicBezTo>
                  <a:pt x="145821" y="6242321"/>
                  <a:pt x="137774" y="6246719"/>
                  <a:pt x="148544" y="6246162"/>
                </a:cubicBezTo>
                <a:cubicBezTo>
                  <a:pt x="147378" y="6249522"/>
                  <a:pt x="147566" y="6251866"/>
                  <a:pt x="148403" y="6253754"/>
                </a:cubicBezTo>
                <a:lnTo>
                  <a:pt x="138880" y="6276449"/>
                </a:lnTo>
                <a:cubicBezTo>
                  <a:pt x="138814" y="6277540"/>
                  <a:pt x="138749" y="6278630"/>
                  <a:pt x="138683" y="6279721"/>
                </a:cubicBezTo>
                <a:lnTo>
                  <a:pt x="130721" y="6293675"/>
                </a:lnTo>
                <a:lnTo>
                  <a:pt x="120717" y="6313967"/>
                </a:lnTo>
                <a:cubicBezTo>
                  <a:pt x="120758" y="6314457"/>
                  <a:pt x="120800" y="6314947"/>
                  <a:pt x="120841" y="6315437"/>
                </a:cubicBezTo>
                <a:lnTo>
                  <a:pt x="115208" y="6324024"/>
                </a:lnTo>
                <a:cubicBezTo>
                  <a:pt x="113007" y="6326672"/>
                  <a:pt x="103991" y="6364381"/>
                  <a:pt x="101217" y="6365923"/>
                </a:cubicBezTo>
                <a:lnTo>
                  <a:pt x="74946" y="6556817"/>
                </a:lnTo>
                <a:cubicBezTo>
                  <a:pt x="55357" y="6665926"/>
                  <a:pt x="35695" y="6744075"/>
                  <a:pt x="16001" y="6808678"/>
                </a:cubicBezTo>
                <a:lnTo>
                  <a:pt x="0" y="6858000"/>
                </a:lnTo>
                <a:lnTo>
                  <a:pt x="5734864" y="6858000"/>
                </a:lnTo>
                <a:lnTo>
                  <a:pt x="5734864"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Google Shape;135;p5">
            <a:extLst>
              <a:ext uri="{FF2B5EF4-FFF2-40B4-BE49-F238E27FC236}">
                <a16:creationId xmlns:a16="http://schemas.microsoft.com/office/drawing/2014/main" id="{78578745-3233-E2C4-2AF4-55BA57C68D3F}"/>
              </a:ext>
            </a:extLst>
          </p:cNvPr>
          <p:cNvSpPr/>
          <p:nvPr/>
        </p:nvSpPr>
        <p:spPr>
          <a:xfrm>
            <a:off x="773408" y="992094"/>
            <a:ext cx="3616913" cy="2795160"/>
          </a:xfrm>
          <a:prstGeom prst="rect">
            <a:avLst/>
          </a:prstGeom>
        </p:spPr>
        <p:txBody>
          <a:bodyPr spcFirstLastPara="1" vert="horz" lIns="91440" tIns="45720" rIns="91440" bIns="45720" rtlCol="0" anchor="b" anchorCtr="0">
            <a:normAutofit/>
          </a:bodyPr>
          <a:lstStyle/>
          <a:p>
            <a:pPr lvl="0" algn="ctr">
              <a:lnSpc>
                <a:spcPct val="90000"/>
              </a:lnSpc>
              <a:spcBef>
                <a:spcPct val="0"/>
              </a:spcBef>
              <a:spcAft>
                <a:spcPts val="600"/>
              </a:spcAft>
            </a:pPr>
            <a:r>
              <a:rPr lang="en-US" sz="4400" b="1" kern="1200">
                <a:solidFill>
                  <a:schemeClr val="tx1"/>
                </a:solidFill>
                <a:latin typeface="+mj-lt"/>
                <a:ea typeface="+mj-ea"/>
                <a:cs typeface="+mj-cs"/>
                <a:sym typeface="Calibri"/>
              </a:rPr>
              <a:t>Architecture blueprint</a:t>
            </a:r>
            <a:endParaRPr lang="en-US" sz="4400" kern="1200">
              <a:solidFill>
                <a:schemeClr val="tx1"/>
              </a:solidFill>
              <a:latin typeface="+mj-lt"/>
              <a:ea typeface="+mj-ea"/>
              <a:cs typeface="+mj-cs"/>
            </a:endParaRPr>
          </a:p>
        </p:txBody>
      </p:sp>
      <p:pic>
        <p:nvPicPr>
          <p:cNvPr id="5" name="Picture 4">
            <a:extLst>
              <a:ext uri="{FF2B5EF4-FFF2-40B4-BE49-F238E27FC236}">
                <a16:creationId xmlns:a16="http://schemas.microsoft.com/office/drawing/2014/main" id="{7557CD07-4711-91D6-B4A2-07AF8C510F55}"/>
              </a:ext>
            </a:extLst>
          </p:cNvPr>
          <p:cNvPicPr>
            <a:picLocks noChangeAspect="1"/>
          </p:cNvPicPr>
          <p:nvPr/>
        </p:nvPicPr>
        <p:blipFill>
          <a:blip r:embed="rId3"/>
          <a:stretch>
            <a:fillRect/>
          </a:stretch>
        </p:blipFill>
        <p:spPr>
          <a:xfrm>
            <a:off x="7764818" y="578738"/>
            <a:ext cx="1970515" cy="567054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4616648"/>
          </a:xfrm>
          <a:prstGeom prst="rect">
            <a:avLst/>
          </a:prstGeom>
          <a:noFill/>
        </p:spPr>
        <p:txBody>
          <a:bodyPr wrap="square" rtlCol="0">
            <a:spAutoFit/>
          </a:bodyPr>
          <a:lstStyle/>
          <a:p>
            <a:r>
              <a:rPr lang="en-US" b="1" dirty="0"/>
              <a:t>Role of Agentic AI in the Audio Signal Processing Assistant Agent</a:t>
            </a:r>
          </a:p>
          <a:p>
            <a:endParaRPr lang="en-US" b="1" dirty="0"/>
          </a:p>
          <a:p>
            <a:r>
              <a:rPr lang="en-US" dirty="0"/>
              <a:t>Agentic AI enables the Audio Signal Processing Assistant Agent to function as an intelligent problem-solving system rather than a traditional chatbot. Using IBM Watsonx.ai and IBM Granite foundation models, the agent can understand user queries, reason about audio-related issues, and provide context-aware recommendations.</a:t>
            </a:r>
          </a:p>
          <a:p>
            <a:r>
              <a:rPr lang="en-US" dirty="0"/>
              <a:t>The system acts as a specialized AI assistant for audio signal processing by analyzing user questions related to noise reduction, signal distortion, filtering, sampling, quantization, frequency analysis, and audio equipment troubleshooting.</a:t>
            </a:r>
          </a:p>
          <a:p>
            <a:endParaRPr lang="en-US" dirty="0"/>
          </a:p>
          <a:p>
            <a:endParaRPr lang="en-US" dirty="0"/>
          </a:p>
          <a:p>
            <a:r>
              <a:rPr lang="en-US" b="1" dirty="0"/>
              <a:t>Benefits of Agentic AI in this Project</a:t>
            </a:r>
          </a:p>
          <a:p>
            <a:r>
              <a:rPr lang="en-US" dirty="0"/>
              <a:t>✅ Intelligent decision-making</a:t>
            </a:r>
          </a:p>
          <a:p>
            <a:r>
              <a:rPr lang="en-US" dirty="0"/>
              <a:t>✅ Context-aware responses</a:t>
            </a:r>
          </a:p>
          <a:p>
            <a:r>
              <a:rPr lang="en-US" dirty="0"/>
              <a:t>✅ Audio troubleshooting support</a:t>
            </a:r>
          </a:p>
          <a:p>
            <a:r>
              <a:rPr lang="en-US" dirty="0"/>
              <a:t>✅ Personalized technical guidance</a:t>
            </a:r>
          </a:p>
          <a:p>
            <a:r>
              <a:rPr lang="en-US" dirty="0"/>
              <a:t>✅ Faster access to DSP knowledge</a:t>
            </a:r>
          </a:p>
          <a:p>
            <a:r>
              <a:rPr lang="en-US" dirty="0"/>
              <a:t>✅ Enhanced learning experience</a:t>
            </a:r>
          </a:p>
          <a:p>
            <a:endParaRPr lang="en-US" dirty="0"/>
          </a:p>
          <a:p>
            <a:endParaRPr lang="en-US" dirty="0"/>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4616648"/>
          </a:xfrm>
          <a:prstGeom prst="rect">
            <a:avLst/>
          </a:prstGeom>
          <a:noFill/>
        </p:spPr>
        <p:txBody>
          <a:bodyPr wrap="square" rtlCol="0">
            <a:spAutoFit/>
          </a:bodyPr>
          <a:lstStyle/>
          <a:p>
            <a:endParaRPr lang="en-US" dirty="0"/>
          </a:p>
          <a:p>
            <a:r>
              <a:rPr lang="en-US" dirty="0"/>
              <a:t>The proposed </a:t>
            </a:r>
            <a:r>
              <a:rPr lang="en-US" b="1" dirty="0"/>
              <a:t>Audio Signal Processing Assistant Agent</a:t>
            </a:r>
            <a:r>
              <a:rPr lang="en-US" dirty="0"/>
              <a:t> stands out by combining </a:t>
            </a:r>
            <a:r>
              <a:rPr lang="en-US" b="1" dirty="0"/>
              <a:t>Agentic AI</a:t>
            </a:r>
            <a:r>
              <a:rPr lang="en-US" dirty="0"/>
              <a:t>, </a:t>
            </a:r>
            <a:r>
              <a:rPr lang="en-US" b="1" dirty="0"/>
              <a:t>Large Language Models (LLMs)</a:t>
            </a:r>
            <a:r>
              <a:rPr lang="en-US" dirty="0"/>
              <a:t>, and </a:t>
            </a:r>
            <a:r>
              <a:rPr lang="en-US" b="1" dirty="0"/>
              <a:t>Audio Engineering Knowledge</a:t>
            </a:r>
            <a:r>
              <a:rPr lang="en-US" dirty="0"/>
              <a:t> into a single intelligent assistance platform.</a:t>
            </a:r>
          </a:p>
          <a:p>
            <a:endParaRPr lang="en-US" dirty="0"/>
          </a:p>
          <a:p>
            <a:r>
              <a:rPr lang="en-US" b="1" u="sng" dirty="0"/>
              <a:t>AI-Powered Audio Expert:</a:t>
            </a:r>
            <a:r>
              <a:rPr lang="en-US" b="1" dirty="0"/>
              <a:t> Unlike</a:t>
            </a:r>
            <a:r>
              <a:rPr lang="en-US" dirty="0"/>
              <a:t> traditional educational resources, the system provides instant, interactive, and context-aware guidance for audio signal processing concepts and troubleshooting.</a:t>
            </a:r>
          </a:p>
          <a:p>
            <a:r>
              <a:rPr lang="en-US" b="1" u="sng" dirty="0"/>
              <a:t>Specialized Domain Knowledge</a:t>
            </a:r>
            <a:r>
              <a:rPr lang="en-US" b="1" dirty="0"/>
              <a:t>: </a:t>
            </a:r>
            <a:r>
              <a:rPr lang="en-US" dirty="0"/>
              <a:t>The assistant is specifically designed for audio signal processing applications, including filtering, sampling, quantization, noise reduction, distortion analysis, and audio equipment diagnostics.</a:t>
            </a:r>
          </a:p>
          <a:p>
            <a:r>
              <a:rPr lang="en-US" b="1" u="sng" dirty="0"/>
              <a:t>Natural Language Interaction</a:t>
            </a:r>
          </a:p>
          <a:p>
            <a:r>
              <a:rPr lang="en-US" dirty="0"/>
              <a:t>Users can communicate with the system using simple natural language instead of searching through multiple technical documents or manuals.</a:t>
            </a:r>
          </a:p>
          <a:p>
            <a:r>
              <a:rPr lang="en-US" b="1" u="sng" dirty="0"/>
              <a:t>Intelligent Troubleshooting:</a:t>
            </a:r>
            <a:r>
              <a:rPr lang="en-US" b="1" dirty="0"/>
              <a:t> </a:t>
            </a:r>
            <a:r>
              <a:rPr lang="en-US" dirty="0"/>
              <a:t>The agent can analyze user-reported audio issues and suggest possible causes, diagnostic steps, and corrective actions in real time.</a:t>
            </a:r>
          </a:p>
          <a:p>
            <a:r>
              <a:rPr lang="en-US" b="1" u="sng" dirty="0"/>
              <a:t>Educational and Practical Support</a:t>
            </a:r>
          </a:p>
          <a:p>
            <a:r>
              <a:rPr lang="en-US" dirty="0"/>
              <a:t>The system serves both as a learning assistant for students and a technical support tool for engineers and audio enthusiasts.</a:t>
            </a:r>
          </a:p>
          <a:p>
            <a:r>
              <a:rPr lang="en-US" b="1" u="sng" dirty="0"/>
              <a:t>Integration of IBM Granite Models</a:t>
            </a:r>
          </a:p>
          <a:p>
            <a:r>
              <a:rPr lang="en-US" dirty="0"/>
              <a:t>The project leverages IBM Granite foundation models through IBM watsonx.ai, enabling advanced reasoning, explanation generation, and technical guidance.</a:t>
            </a:r>
          </a:p>
          <a:p>
            <a:r>
              <a:rPr lang="en-US" b="1" u="sng" dirty="0"/>
              <a:t>Low-Code AI Development</a:t>
            </a:r>
            <a:r>
              <a:rPr lang="en-US" b="1" dirty="0"/>
              <a:t>: </a:t>
            </a:r>
            <a:r>
              <a:rPr lang="en-US" dirty="0"/>
              <a:t>By utilizing </a:t>
            </a:r>
            <a:r>
              <a:rPr lang="en-US" dirty="0" err="1"/>
              <a:t>LangFlow</a:t>
            </a:r>
            <a:r>
              <a:rPr lang="en-US" dirty="0"/>
              <a:t>, the solution demonstrates how sophisticated AI assistants can be developed through visual workflow design without extensive coding.</a:t>
            </a:r>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u="sng" dirty="0">
                <a:sym typeface="Times New Roman"/>
              </a:rPr>
              <a:t>Future Scope </a:t>
            </a:r>
            <a:endParaRPr sz="2400" b="1" u="sng"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6"/>
            <a:ext cx="9161893" cy="5483884"/>
          </a:xfrm>
          <a:prstGeom prst="rect">
            <a:avLst/>
          </a:prstGeom>
          <a:noFill/>
          <a:ln>
            <a:noFill/>
          </a:ln>
        </p:spPr>
        <p:txBody>
          <a:bodyPr spcFirstLastPara="1" wrap="square" lIns="0" tIns="0" rIns="0" bIns="0" anchor="t" anchorCtr="0">
            <a:noAutofit/>
          </a:bodyPr>
          <a:lstStyle/>
          <a:p>
            <a:r>
              <a:rPr lang="en-US" sz="1800" b="1" dirty="0"/>
              <a:t>1. Real-Time Audio File Analysis</a:t>
            </a:r>
          </a:p>
          <a:p>
            <a:r>
              <a:rPr lang="en-US" sz="1800" dirty="0"/>
              <a:t>Future versions can allow users to upload audio files for automatic analysis of noise, distortion, clipping, frequency response, and signal quality issues.</a:t>
            </a:r>
          </a:p>
          <a:p>
            <a:r>
              <a:rPr lang="en-US" sz="1800" b="1" dirty="0"/>
              <a:t>2. Audio Spectrum Visualization</a:t>
            </a:r>
          </a:p>
          <a:p>
            <a:r>
              <a:rPr lang="en-US" sz="1800" dirty="0"/>
              <a:t>The system can be enhanced with waveform and spectrum analysis tools to provide graphical representations of audio signals using FFT and frequency-domain techniques.</a:t>
            </a:r>
          </a:p>
          <a:p>
            <a:r>
              <a:rPr lang="en-US" sz="1800" b="1" dirty="0"/>
              <a:t>3. Voice-Based Interaction</a:t>
            </a:r>
          </a:p>
          <a:p>
            <a:r>
              <a:rPr lang="en-US" sz="1800" dirty="0"/>
              <a:t>Integration of Speech-to-Text and Text-to-Speech technologies will enable users to interact with the assistant through voice commands and receive spoken responses.</a:t>
            </a:r>
          </a:p>
          <a:p>
            <a:r>
              <a:rPr lang="en-US" sz="1800" b="1" dirty="0"/>
              <a:t>4. Advanced DSP Design Assistance</a:t>
            </a:r>
          </a:p>
          <a:p>
            <a:r>
              <a:rPr lang="en-US" sz="1800" dirty="0"/>
              <a:t>The assistant can be extended to provide filter design recommendations, equalizer settings, signal conditioning techniques, and DSP algorithm guidance for engineering applications.</a:t>
            </a:r>
          </a:p>
          <a:p>
            <a:r>
              <a:rPr lang="en-US" sz="1800" b="1" dirty="0"/>
              <a:t>5. Integration with IoT Audio Devices</a:t>
            </a:r>
          </a:p>
          <a:p>
            <a:r>
              <a:rPr lang="en-US" sz="1800" dirty="0"/>
              <a:t>The system can be connected with microphones, speakers, smart audio systems, and IoT devices for real-time monitoring and diagnostics.</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a:extLst>
              <a:ext uri="{C183D7F6-B498-43B3-948B-1728B52AA6E4}">
                <adec:decorative xmlns:adec="http://schemas.microsoft.com/office/drawing/2017/decorative" val="1"/>
              </a:ext>
            </a:extLst>
          </p:cNvPr>
          <p:cNvPicPr preferRelativeResize="0"/>
          <p:nvPr/>
        </p:nvPicPr>
        <p:blipFill rotWithShape="1">
          <a:blip r:embed="rId3">
            <a:alphaModFix/>
          </a:blip>
          <a:srcRect/>
          <a:stretch/>
        </p:blipFill>
        <p:spPr>
          <a:xfrm>
            <a:off x="-252549" y="1876794"/>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1271</TotalTime>
  <Words>1146</Words>
  <Application>Microsoft Office PowerPoint</Application>
  <PresentationFormat>Widescreen</PresentationFormat>
  <Paragraphs>121</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Arghadeep Pandit</cp:lastModifiedBy>
  <cp:revision>23</cp:revision>
  <cp:lastPrinted>2026-06-04T23:43:10Z</cp:lastPrinted>
  <dcterms:created xsi:type="dcterms:W3CDTF">2025-07-08T05:06:56Z</dcterms:created>
  <dcterms:modified xsi:type="dcterms:W3CDTF">2026-06-05T00:18:43Z</dcterms:modified>
</cp:coreProperties>
</file>